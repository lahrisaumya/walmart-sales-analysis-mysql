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Open Sauce Bold" charset="1" panose="00000800000000000000"/>
      <p:regular r:id="rId34"/>
    </p:embeddedFont>
    <p:embeddedFont>
      <p:font typeface="Open Sauce" charset="1" panose="00000500000000000000"/>
      <p:regular r:id="rId35"/>
    </p:embeddedFont>
    <p:embeddedFont>
      <p:font typeface="Open Sauce Bold Italics" charset="1" panose="00000800000000000000"/>
      <p:regular r:id="rId36"/>
    </p:embeddedFont>
    <p:embeddedFont>
      <p:font typeface="Open Sauce Italics" charset="1" panose="000005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3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 Id="rId4" Target="../media/image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8.jpeg" Type="http://schemas.openxmlformats.org/officeDocument/2006/relationships/image"/><Relationship Id="rId5"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5047759" y="3749017"/>
            <a:ext cx="3240241" cy="6504134"/>
          </a:xfrm>
          <a:custGeom>
            <a:avLst/>
            <a:gdLst/>
            <a:ahLst/>
            <a:cxnLst/>
            <a:rect r="r" b="b" t="t" l="l"/>
            <a:pathLst>
              <a:path h="6504134" w="3240241">
                <a:moveTo>
                  <a:pt x="0" y="0"/>
                </a:moveTo>
                <a:lnTo>
                  <a:pt x="3240241" y="0"/>
                </a:lnTo>
                <a:lnTo>
                  <a:pt x="3240241" y="6504133"/>
                </a:lnTo>
                <a:lnTo>
                  <a:pt x="0" y="650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032403" y="-1448305"/>
            <a:ext cx="5255597" cy="13183610"/>
            <a:chOff x="0" y="0"/>
            <a:chExt cx="1384190" cy="3472227"/>
          </a:xfrm>
        </p:grpSpPr>
        <p:sp>
          <p:nvSpPr>
            <p:cNvPr name="Freeform 4" id="4"/>
            <p:cNvSpPr/>
            <p:nvPr/>
          </p:nvSpPr>
          <p:spPr>
            <a:xfrm flipH="false" flipV="false" rot="0">
              <a:off x="0" y="0"/>
              <a:ext cx="1384190" cy="3472226"/>
            </a:xfrm>
            <a:custGeom>
              <a:avLst/>
              <a:gdLst/>
              <a:ahLst/>
              <a:cxnLst/>
              <a:rect r="r" b="b" t="t" l="l"/>
              <a:pathLst>
                <a:path h="3472226" w="1384190">
                  <a:moveTo>
                    <a:pt x="0" y="0"/>
                  </a:moveTo>
                  <a:lnTo>
                    <a:pt x="1384190" y="0"/>
                  </a:lnTo>
                  <a:lnTo>
                    <a:pt x="1384190" y="3472226"/>
                  </a:lnTo>
                  <a:lnTo>
                    <a:pt x="0" y="3472226"/>
                  </a:lnTo>
                  <a:close/>
                </a:path>
              </a:pathLst>
            </a:custGeom>
            <a:solidFill>
              <a:srgbClr val="FDFBFB"/>
            </a:solidFill>
          </p:spPr>
        </p:sp>
        <p:sp>
          <p:nvSpPr>
            <p:cNvPr name="TextBox 5" id="5"/>
            <p:cNvSpPr txBox="true"/>
            <p:nvPr/>
          </p:nvSpPr>
          <p:spPr>
            <a:xfrm>
              <a:off x="0" y="-19050"/>
              <a:ext cx="1384190" cy="3491277"/>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8316241" y="735334"/>
            <a:ext cx="8816333" cy="8816333"/>
          </a:xfrm>
          <a:custGeom>
            <a:avLst/>
            <a:gdLst/>
            <a:ahLst/>
            <a:cxnLst/>
            <a:rect r="r" b="b" t="t" l="l"/>
            <a:pathLst>
              <a:path h="8816333" w="8816333">
                <a:moveTo>
                  <a:pt x="0" y="0"/>
                </a:moveTo>
                <a:lnTo>
                  <a:pt x="8816333" y="0"/>
                </a:lnTo>
                <a:lnTo>
                  <a:pt x="8816333" y="8816332"/>
                </a:lnTo>
                <a:lnTo>
                  <a:pt x="0" y="8816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9036870" y="1455978"/>
            <a:ext cx="7375073" cy="7375044"/>
            <a:chOff x="0" y="0"/>
            <a:chExt cx="6350000" cy="6349975"/>
          </a:xfrm>
        </p:grpSpPr>
        <p:sp>
          <p:nvSpPr>
            <p:cNvPr name="Freeform 8" id="8"/>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1934" t="0" r="-32838" b="0"/>
              </a:stretch>
            </a:blipFill>
          </p:spPr>
        </p:sp>
      </p:grpSp>
      <p:grpSp>
        <p:nvGrpSpPr>
          <p:cNvPr name="Group 9" id="9"/>
          <p:cNvGrpSpPr/>
          <p:nvPr/>
        </p:nvGrpSpPr>
        <p:grpSpPr>
          <a:xfrm rot="0">
            <a:off x="1041269" y="3489495"/>
            <a:ext cx="95154" cy="4083351"/>
            <a:chOff x="0" y="0"/>
            <a:chExt cx="25061" cy="1075451"/>
          </a:xfrm>
        </p:grpSpPr>
        <p:sp>
          <p:nvSpPr>
            <p:cNvPr name="Freeform 10" id="10"/>
            <p:cNvSpPr/>
            <p:nvPr/>
          </p:nvSpPr>
          <p:spPr>
            <a:xfrm flipH="false" flipV="false" rot="0">
              <a:off x="0" y="0"/>
              <a:ext cx="25061" cy="1075451"/>
            </a:xfrm>
            <a:custGeom>
              <a:avLst/>
              <a:gdLst/>
              <a:ahLst/>
              <a:cxnLst/>
              <a:rect r="r" b="b" t="t" l="l"/>
              <a:pathLst>
                <a:path h="1075451" w="25061">
                  <a:moveTo>
                    <a:pt x="0" y="0"/>
                  </a:moveTo>
                  <a:lnTo>
                    <a:pt x="25061" y="0"/>
                  </a:lnTo>
                  <a:lnTo>
                    <a:pt x="25061" y="1075451"/>
                  </a:lnTo>
                  <a:lnTo>
                    <a:pt x="0" y="1075451"/>
                  </a:lnTo>
                  <a:close/>
                </a:path>
              </a:pathLst>
            </a:custGeom>
            <a:solidFill>
              <a:srgbClr val="F47421"/>
            </a:solidFill>
            <a:ln cap="sq">
              <a:noFill/>
              <a:prstDash val="solid"/>
              <a:miter/>
            </a:ln>
          </p:spPr>
        </p:sp>
        <p:sp>
          <p:nvSpPr>
            <p:cNvPr name="TextBox 11" id="11"/>
            <p:cNvSpPr txBox="true"/>
            <p:nvPr/>
          </p:nvSpPr>
          <p:spPr>
            <a:xfrm>
              <a:off x="0" y="-19050"/>
              <a:ext cx="25061" cy="1094501"/>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2" id="12"/>
          <p:cNvSpPr/>
          <p:nvPr/>
        </p:nvSpPr>
        <p:spPr>
          <a:xfrm flipH="false" flipV="false" rot="0">
            <a:off x="1057435" y="17696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7"/>
            <a:stretch>
              <a:fillRect l="0" t="-26160" r="0" b="-26160"/>
            </a:stretch>
          </a:blipFill>
        </p:spPr>
      </p:sp>
      <p:sp>
        <p:nvSpPr>
          <p:cNvPr name="TextBox 13" id="13"/>
          <p:cNvSpPr txBox="true"/>
          <p:nvPr/>
        </p:nvSpPr>
        <p:spPr>
          <a:xfrm rot="0">
            <a:off x="1387521" y="3384720"/>
            <a:ext cx="7214594" cy="2635250"/>
          </a:xfrm>
          <a:prstGeom prst="rect">
            <a:avLst/>
          </a:prstGeom>
        </p:spPr>
        <p:txBody>
          <a:bodyPr anchor="t" rtlCol="false" tIns="0" lIns="0" bIns="0" rIns="0">
            <a:spAutoFit/>
          </a:bodyPr>
          <a:lstStyle/>
          <a:p>
            <a:pPr algn="l">
              <a:lnSpc>
                <a:spcPts val="7000"/>
              </a:lnSpc>
            </a:pPr>
            <a:r>
              <a:rPr lang="en-US" sz="5000" spc="-100" b="true">
                <a:solidFill>
                  <a:srgbClr val="191919"/>
                </a:solidFill>
                <a:latin typeface="Open Sauce Bold"/>
                <a:ea typeface="Open Sauce Bold"/>
                <a:cs typeface="Open Sauce Bold"/>
                <a:sym typeface="Open Sauce Bold"/>
              </a:rPr>
              <a:t>Sales Performance Analysis of Walmart Stores</a:t>
            </a:r>
          </a:p>
        </p:txBody>
      </p:sp>
      <p:sp>
        <p:nvSpPr>
          <p:cNvPr name="TextBox 14" id="14"/>
          <p:cNvSpPr txBox="true"/>
          <p:nvPr/>
        </p:nvSpPr>
        <p:spPr>
          <a:xfrm rot="0">
            <a:off x="1387521" y="6550297"/>
            <a:ext cx="6832368" cy="1022550"/>
          </a:xfrm>
          <a:prstGeom prst="rect">
            <a:avLst/>
          </a:prstGeom>
        </p:spPr>
        <p:txBody>
          <a:bodyPr anchor="t" rtlCol="false" tIns="0" lIns="0" bIns="0" rIns="0">
            <a:spAutoFit/>
          </a:bodyPr>
          <a:lstStyle/>
          <a:p>
            <a:pPr algn="l">
              <a:lnSpc>
                <a:spcPts val="4195"/>
              </a:lnSpc>
            </a:pPr>
            <a:r>
              <a:rPr lang="en-US" sz="3018" spc="241">
                <a:solidFill>
                  <a:srgbClr val="191919"/>
                </a:solidFill>
                <a:latin typeface="Open Sauce"/>
                <a:ea typeface="Open Sauce"/>
                <a:cs typeface="Open Sauce"/>
                <a:sym typeface="Open Sauce"/>
              </a:rPr>
              <a:t>Using Advanced MySQL Techniques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8881967" y="-2828925"/>
            <a:ext cx="5657850" cy="565785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BFB"/>
            </a:solidFill>
            <a:ln cap="sq">
              <a:noFill/>
              <a:prstDash val="solid"/>
              <a:miter/>
            </a:ln>
          </p:spPr>
        </p:sp>
        <p:sp>
          <p:nvSpPr>
            <p:cNvPr name="TextBox 4" id="4"/>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11710892" y="0"/>
            <a:ext cx="6648057" cy="10287000"/>
            <a:chOff x="0" y="0"/>
            <a:chExt cx="1750928" cy="2709333"/>
          </a:xfrm>
        </p:grpSpPr>
        <p:sp>
          <p:nvSpPr>
            <p:cNvPr name="Freeform 6" id="6"/>
            <p:cNvSpPr/>
            <p:nvPr/>
          </p:nvSpPr>
          <p:spPr>
            <a:xfrm flipH="false" flipV="false" rot="0">
              <a:off x="0" y="0"/>
              <a:ext cx="1750928" cy="2709333"/>
            </a:xfrm>
            <a:custGeom>
              <a:avLst/>
              <a:gdLst/>
              <a:ahLst/>
              <a:cxnLst/>
              <a:rect r="r" b="b" t="t" l="l"/>
              <a:pathLst>
                <a:path h="2709333" w="1750928">
                  <a:moveTo>
                    <a:pt x="0" y="0"/>
                  </a:moveTo>
                  <a:lnTo>
                    <a:pt x="1750928" y="0"/>
                  </a:lnTo>
                  <a:lnTo>
                    <a:pt x="1750928" y="2709333"/>
                  </a:lnTo>
                  <a:lnTo>
                    <a:pt x="0" y="2709333"/>
                  </a:lnTo>
                  <a:close/>
                </a:path>
              </a:pathLst>
            </a:custGeom>
            <a:solidFill>
              <a:srgbClr val="F47421"/>
            </a:solidFill>
            <a:ln cap="sq">
              <a:noFill/>
              <a:prstDash val="solid"/>
              <a:miter/>
            </a:ln>
          </p:spPr>
        </p:sp>
        <p:sp>
          <p:nvSpPr>
            <p:cNvPr name="TextBox 7" id="7"/>
            <p:cNvSpPr txBox="true"/>
            <p:nvPr/>
          </p:nvSpPr>
          <p:spPr>
            <a:xfrm>
              <a:off x="0" y="-19050"/>
              <a:ext cx="1750928" cy="2728383"/>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8" id="8"/>
          <p:cNvSpPr txBox="true"/>
          <p:nvPr/>
        </p:nvSpPr>
        <p:spPr>
          <a:xfrm rot="0">
            <a:off x="1295137" y="1754095"/>
            <a:ext cx="3630003" cy="808613"/>
          </a:xfrm>
          <a:prstGeom prst="rect">
            <a:avLst/>
          </a:prstGeom>
        </p:spPr>
        <p:txBody>
          <a:bodyPr anchor="t" rtlCol="false" tIns="0" lIns="0" bIns="0" rIns="0">
            <a:spAutoFit/>
          </a:bodyPr>
          <a:lstStyle/>
          <a:p>
            <a:pPr algn="l" marL="0" indent="0" lvl="0">
              <a:lnSpc>
                <a:spcPts val="6644"/>
              </a:lnSpc>
              <a:spcBef>
                <a:spcPct val="0"/>
              </a:spcBef>
            </a:pPr>
            <a:r>
              <a:rPr lang="en-US" b="true" sz="4746" spc="-94">
                <a:solidFill>
                  <a:srgbClr val="191919"/>
                </a:solidFill>
                <a:latin typeface="Open Sauce Bold"/>
                <a:ea typeface="Open Sauce Bold"/>
                <a:cs typeface="Open Sauce Bold"/>
                <a:sym typeface="Open Sauce Bold"/>
              </a:rPr>
              <a:t>Overview</a:t>
            </a:r>
          </a:p>
        </p:txBody>
      </p:sp>
      <p:sp>
        <p:nvSpPr>
          <p:cNvPr name="TextBox 9" id="9"/>
          <p:cNvSpPr txBox="true"/>
          <p:nvPr/>
        </p:nvSpPr>
        <p:spPr>
          <a:xfrm rot="0">
            <a:off x="1695141" y="3105633"/>
            <a:ext cx="7026040" cy="5845810"/>
          </a:xfrm>
          <a:prstGeom prst="rect">
            <a:avLst/>
          </a:prstGeom>
        </p:spPr>
        <p:txBody>
          <a:bodyPr anchor="t" rtlCol="false" tIns="0" lIns="0" bIns="0" rIns="0">
            <a:spAutoFit/>
          </a:bodyPr>
          <a:lstStyle/>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Introduction</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Business Problem &amp; Solutions</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Top Branch by Sales Growth</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Most Profitable Product Line</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Customer Segmentation by Spending</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Sales Anomaly Detection</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Popular Payment Method by City</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Monthly Sales by Gender</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Best Product Line by Customer Type</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Repeat Customer Identification</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Top 5 Customers by Sales</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Sales Trends by Day of Week</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Key Insights </a:t>
            </a:r>
          </a:p>
          <a:p>
            <a:pPr algn="l" marL="431801" indent="-215900" lvl="1">
              <a:lnSpc>
                <a:spcPts val="3320"/>
              </a:lnSpc>
              <a:buFont typeface="Arial"/>
              <a:buChar char="•"/>
            </a:pPr>
            <a:r>
              <a:rPr lang="en-US" sz="2000">
                <a:solidFill>
                  <a:srgbClr val="191919"/>
                </a:solidFill>
                <a:latin typeface="Open Sauce"/>
                <a:ea typeface="Open Sauce"/>
                <a:cs typeface="Open Sauce"/>
                <a:sym typeface="Open Sauce"/>
              </a:rPr>
              <a:t>Recommendations</a:t>
            </a:r>
          </a:p>
        </p:txBody>
      </p:sp>
      <p:sp>
        <p:nvSpPr>
          <p:cNvPr name="TextBox 10" id="10"/>
          <p:cNvSpPr txBox="true"/>
          <p:nvPr/>
        </p:nvSpPr>
        <p:spPr>
          <a:xfrm rot="0">
            <a:off x="8525791" y="3105633"/>
            <a:ext cx="833019" cy="5845810"/>
          </a:xfrm>
          <a:prstGeom prst="rect">
            <a:avLst/>
          </a:prstGeom>
        </p:spPr>
        <p:txBody>
          <a:bodyPr anchor="t" rtlCol="false" tIns="0" lIns="0" bIns="0" rIns="0">
            <a:spAutoFit/>
          </a:bodyPr>
          <a:lstStyle/>
          <a:p>
            <a:pPr algn="r">
              <a:lnSpc>
                <a:spcPts val="3320"/>
              </a:lnSpc>
            </a:pPr>
            <a:r>
              <a:rPr lang="en-US" sz="2000" b="true">
                <a:solidFill>
                  <a:srgbClr val="191919"/>
                </a:solidFill>
                <a:latin typeface="Open Sauce Bold"/>
                <a:ea typeface="Open Sauce Bold"/>
                <a:cs typeface="Open Sauce Bold"/>
                <a:sym typeface="Open Sauce Bold"/>
              </a:rPr>
              <a:t>3</a:t>
            </a:r>
          </a:p>
          <a:p>
            <a:pPr algn="r">
              <a:lnSpc>
                <a:spcPts val="3320"/>
              </a:lnSpc>
            </a:pPr>
            <a:r>
              <a:rPr lang="en-US" sz="2000" b="true">
                <a:solidFill>
                  <a:srgbClr val="191919"/>
                </a:solidFill>
                <a:latin typeface="Open Sauce Bold"/>
                <a:ea typeface="Open Sauce Bold"/>
                <a:cs typeface="Open Sauce Bold"/>
                <a:sym typeface="Open Sauce Bold"/>
              </a:rPr>
              <a:t>4</a:t>
            </a:r>
          </a:p>
          <a:p>
            <a:pPr algn="r">
              <a:lnSpc>
                <a:spcPts val="3320"/>
              </a:lnSpc>
            </a:pPr>
            <a:r>
              <a:rPr lang="en-US" sz="2000" b="true">
                <a:solidFill>
                  <a:srgbClr val="191919"/>
                </a:solidFill>
                <a:latin typeface="Open Sauce Bold"/>
                <a:ea typeface="Open Sauce Bold"/>
                <a:cs typeface="Open Sauce Bold"/>
                <a:sym typeface="Open Sauce Bold"/>
              </a:rPr>
              <a:t>5</a:t>
            </a:r>
          </a:p>
          <a:p>
            <a:pPr algn="r">
              <a:lnSpc>
                <a:spcPts val="3320"/>
              </a:lnSpc>
            </a:pPr>
            <a:r>
              <a:rPr lang="en-US" sz="2000" b="true">
                <a:solidFill>
                  <a:srgbClr val="191919"/>
                </a:solidFill>
                <a:latin typeface="Open Sauce Bold"/>
                <a:ea typeface="Open Sauce Bold"/>
                <a:cs typeface="Open Sauce Bold"/>
                <a:sym typeface="Open Sauce Bold"/>
              </a:rPr>
              <a:t> 7</a:t>
            </a:r>
          </a:p>
          <a:p>
            <a:pPr algn="r">
              <a:lnSpc>
                <a:spcPts val="3320"/>
              </a:lnSpc>
            </a:pPr>
            <a:r>
              <a:rPr lang="en-US" sz="2000" b="true">
                <a:solidFill>
                  <a:srgbClr val="191919"/>
                </a:solidFill>
                <a:latin typeface="Open Sauce Bold"/>
                <a:ea typeface="Open Sauce Bold"/>
                <a:cs typeface="Open Sauce Bold"/>
                <a:sym typeface="Open Sauce Bold"/>
              </a:rPr>
              <a:t>9</a:t>
            </a:r>
          </a:p>
          <a:p>
            <a:pPr algn="r">
              <a:lnSpc>
                <a:spcPts val="3320"/>
              </a:lnSpc>
            </a:pPr>
            <a:r>
              <a:rPr lang="en-US" sz="2000" b="true">
                <a:solidFill>
                  <a:srgbClr val="191919"/>
                </a:solidFill>
                <a:latin typeface="Open Sauce Bold"/>
                <a:ea typeface="Open Sauce Bold"/>
                <a:cs typeface="Open Sauce Bold"/>
                <a:sym typeface="Open Sauce Bold"/>
              </a:rPr>
              <a:t>11</a:t>
            </a:r>
          </a:p>
          <a:p>
            <a:pPr algn="r">
              <a:lnSpc>
                <a:spcPts val="3320"/>
              </a:lnSpc>
            </a:pPr>
            <a:r>
              <a:rPr lang="en-US" sz="2000" b="true">
                <a:solidFill>
                  <a:srgbClr val="191919"/>
                </a:solidFill>
                <a:latin typeface="Open Sauce Bold"/>
                <a:ea typeface="Open Sauce Bold"/>
                <a:cs typeface="Open Sauce Bold"/>
                <a:sym typeface="Open Sauce Bold"/>
              </a:rPr>
              <a:t>13</a:t>
            </a:r>
          </a:p>
          <a:p>
            <a:pPr algn="r">
              <a:lnSpc>
                <a:spcPts val="3320"/>
              </a:lnSpc>
            </a:pPr>
            <a:r>
              <a:rPr lang="en-US" sz="2000" b="true">
                <a:solidFill>
                  <a:srgbClr val="191919"/>
                </a:solidFill>
                <a:latin typeface="Open Sauce Bold"/>
                <a:ea typeface="Open Sauce Bold"/>
                <a:cs typeface="Open Sauce Bold"/>
                <a:sym typeface="Open Sauce Bold"/>
              </a:rPr>
              <a:t>15</a:t>
            </a:r>
          </a:p>
          <a:p>
            <a:pPr algn="r">
              <a:lnSpc>
                <a:spcPts val="3320"/>
              </a:lnSpc>
            </a:pPr>
            <a:r>
              <a:rPr lang="en-US" sz="2000" b="true">
                <a:solidFill>
                  <a:srgbClr val="191919"/>
                </a:solidFill>
                <a:latin typeface="Open Sauce Bold"/>
                <a:ea typeface="Open Sauce Bold"/>
                <a:cs typeface="Open Sauce Bold"/>
                <a:sym typeface="Open Sauce Bold"/>
              </a:rPr>
              <a:t>17</a:t>
            </a:r>
          </a:p>
          <a:p>
            <a:pPr algn="r">
              <a:lnSpc>
                <a:spcPts val="3320"/>
              </a:lnSpc>
            </a:pPr>
            <a:r>
              <a:rPr lang="en-US" sz="2000" b="true">
                <a:solidFill>
                  <a:srgbClr val="191919"/>
                </a:solidFill>
                <a:latin typeface="Open Sauce Bold"/>
                <a:ea typeface="Open Sauce Bold"/>
                <a:cs typeface="Open Sauce Bold"/>
                <a:sym typeface="Open Sauce Bold"/>
              </a:rPr>
              <a:t>19</a:t>
            </a:r>
          </a:p>
          <a:p>
            <a:pPr algn="r">
              <a:lnSpc>
                <a:spcPts val="3320"/>
              </a:lnSpc>
            </a:pPr>
            <a:r>
              <a:rPr lang="en-US" sz="2000" b="true">
                <a:solidFill>
                  <a:srgbClr val="191919"/>
                </a:solidFill>
                <a:latin typeface="Open Sauce Bold"/>
                <a:ea typeface="Open Sauce Bold"/>
                <a:cs typeface="Open Sauce Bold"/>
                <a:sym typeface="Open Sauce Bold"/>
              </a:rPr>
              <a:t>21</a:t>
            </a:r>
          </a:p>
          <a:p>
            <a:pPr algn="r">
              <a:lnSpc>
                <a:spcPts val="3320"/>
              </a:lnSpc>
            </a:pPr>
            <a:r>
              <a:rPr lang="en-US" sz="2000" b="true">
                <a:solidFill>
                  <a:srgbClr val="191919"/>
                </a:solidFill>
                <a:latin typeface="Open Sauce Bold"/>
                <a:ea typeface="Open Sauce Bold"/>
                <a:cs typeface="Open Sauce Bold"/>
                <a:sym typeface="Open Sauce Bold"/>
              </a:rPr>
              <a:t>23</a:t>
            </a:r>
          </a:p>
          <a:p>
            <a:pPr algn="r">
              <a:lnSpc>
                <a:spcPts val="3320"/>
              </a:lnSpc>
            </a:pPr>
            <a:r>
              <a:rPr lang="en-US" sz="2000" b="true">
                <a:solidFill>
                  <a:srgbClr val="191919"/>
                </a:solidFill>
                <a:latin typeface="Open Sauce Bold"/>
                <a:ea typeface="Open Sauce Bold"/>
                <a:cs typeface="Open Sauce Bold"/>
                <a:sym typeface="Open Sauce Bold"/>
              </a:rPr>
              <a:t>25</a:t>
            </a:r>
          </a:p>
          <a:p>
            <a:pPr algn="r">
              <a:lnSpc>
                <a:spcPts val="3320"/>
              </a:lnSpc>
            </a:pPr>
            <a:r>
              <a:rPr lang="en-US" b="true" sz="2000">
                <a:solidFill>
                  <a:srgbClr val="191919"/>
                </a:solidFill>
                <a:latin typeface="Open Sauce Bold"/>
                <a:ea typeface="Open Sauce Bold"/>
                <a:cs typeface="Open Sauce Bold"/>
                <a:sym typeface="Open Sauce Bold"/>
              </a:rPr>
              <a:t>26</a:t>
            </a:r>
          </a:p>
        </p:txBody>
      </p:sp>
      <p:grpSp>
        <p:nvGrpSpPr>
          <p:cNvPr name="Group 11" id="11"/>
          <p:cNvGrpSpPr/>
          <p:nvPr/>
        </p:nvGrpSpPr>
        <p:grpSpPr>
          <a:xfrm rot="0">
            <a:off x="-1390959" y="8567821"/>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BFB"/>
            </a:solidFill>
            <a:ln cap="sq">
              <a:noFill/>
              <a:prstDash val="solid"/>
              <a:miter/>
            </a:ln>
          </p:spPr>
        </p:sp>
        <p:sp>
          <p:nvSpPr>
            <p:cNvPr name="TextBox 13" id="13"/>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4" id="14"/>
          <p:cNvGrpSpPr/>
          <p:nvPr/>
        </p:nvGrpSpPr>
        <p:grpSpPr>
          <a:xfrm rot="0">
            <a:off x="10206536" y="3314080"/>
            <a:ext cx="654889" cy="65488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421"/>
            </a:solidFill>
            <a:ln cap="sq">
              <a:noFill/>
              <a:prstDash val="solid"/>
              <a:miter/>
            </a:ln>
          </p:spPr>
        </p:sp>
        <p:sp>
          <p:nvSpPr>
            <p:cNvPr name="TextBox 16" id="16"/>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7" id="17"/>
          <p:cNvSpPr/>
          <p:nvPr/>
        </p:nvSpPr>
        <p:spPr>
          <a:xfrm flipH="false" flipV="false" rot="0">
            <a:off x="11710892" y="0"/>
            <a:ext cx="6577108" cy="10287000"/>
          </a:xfrm>
          <a:custGeom>
            <a:avLst/>
            <a:gdLst/>
            <a:ahLst/>
            <a:cxnLst/>
            <a:rect r="r" b="b" t="t" l="l"/>
            <a:pathLst>
              <a:path h="10287000" w="6577108">
                <a:moveTo>
                  <a:pt x="0" y="0"/>
                </a:moveTo>
                <a:lnTo>
                  <a:pt x="6577108" y="0"/>
                </a:lnTo>
                <a:lnTo>
                  <a:pt x="6577108" y="10287000"/>
                </a:lnTo>
                <a:lnTo>
                  <a:pt x="0" y="10287000"/>
                </a:lnTo>
                <a:lnTo>
                  <a:pt x="0" y="0"/>
                </a:lnTo>
                <a:close/>
              </a:path>
            </a:pathLst>
          </a:custGeom>
          <a:blipFill>
            <a:blip r:embed="rId2"/>
            <a:stretch>
              <a:fillRect l="-66190" t="0" r="-74771" b="0"/>
            </a:stretch>
          </a:blipFill>
        </p:spPr>
      </p:sp>
      <p:sp>
        <p:nvSpPr>
          <p:cNvPr name="Freeform 18" id="18"/>
          <p:cNvSpPr/>
          <p:nvPr/>
        </p:nvSpPr>
        <p:spPr>
          <a:xfrm flipH="false" flipV="false" rot="0">
            <a:off x="1028700" y="1028700"/>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3"/>
            <a:stretch>
              <a:fillRect l="0" t="-26160" r="0" b="-2616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778327" y="7417124"/>
            <a:ext cx="12710840" cy="1184047"/>
          </a:xfrm>
          <a:custGeom>
            <a:avLst/>
            <a:gdLst/>
            <a:ahLst/>
            <a:cxnLst/>
            <a:rect r="r" b="b" t="t" l="l"/>
            <a:pathLst>
              <a:path h="1184047" w="12710840">
                <a:moveTo>
                  <a:pt x="0" y="0"/>
                </a:moveTo>
                <a:lnTo>
                  <a:pt x="12710840" y="0"/>
                </a:lnTo>
                <a:lnTo>
                  <a:pt x="12710840" y="1184046"/>
                </a:lnTo>
                <a:lnTo>
                  <a:pt x="0" y="1184046"/>
                </a:lnTo>
                <a:lnTo>
                  <a:pt x="0" y="0"/>
                </a:lnTo>
                <a:close/>
              </a:path>
            </a:pathLst>
          </a:custGeom>
          <a:blipFill>
            <a:blip r:embed="rId2">
              <a:alphaModFix amt="72000"/>
            </a:blip>
            <a:stretch>
              <a:fillRect l="0" t="0" r="0" b="-208633"/>
            </a:stretch>
          </a:blipFill>
        </p:spPr>
      </p:sp>
      <p:grpSp>
        <p:nvGrpSpPr>
          <p:cNvPr name="Group 3" id="3"/>
          <p:cNvGrpSpPr/>
          <p:nvPr/>
        </p:nvGrpSpPr>
        <p:grpSpPr>
          <a:xfrm rot="0">
            <a:off x="0" y="0"/>
            <a:ext cx="18288000" cy="4491629"/>
            <a:chOff x="0" y="0"/>
            <a:chExt cx="4816593" cy="1182980"/>
          </a:xfrm>
        </p:grpSpPr>
        <p:sp>
          <p:nvSpPr>
            <p:cNvPr name="Freeform 4" id="4"/>
            <p:cNvSpPr/>
            <p:nvPr/>
          </p:nvSpPr>
          <p:spPr>
            <a:xfrm flipH="false" flipV="false" rot="0">
              <a:off x="0" y="0"/>
              <a:ext cx="4816592" cy="1182980"/>
            </a:xfrm>
            <a:custGeom>
              <a:avLst/>
              <a:gdLst/>
              <a:ahLst/>
              <a:cxnLst/>
              <a:rect r="r" b="b" t="t" l="l"/>
              <a:pathLst>
                <a:path h="1182980" w="4816592">
                  <a:moveTo>
                    <a:pt x="0" y="0"/>
                  </a:moveTo>
                  <a:lnTo>
                    <a:pt x="4816592" y="0"/>
                  </a:lnTo>
                  <a:lnTo>
                    <a:pt x="4816592" y="1182980"/>
                  </a:lnTo>
                  <a:lnTo>
                    <a:pt x="0" y="1182980"/>
                  </a:lnTo>
                  <a:close/>
                </a:path>
              </a:pathLst>
            </a:custGeom>
            <a:solidFill>
              <a:srgbClr val="FDFBFB"/>
            </a:solidFill>
            <a:ln cap="sq">
              <a:noFill/>
              <a:prstDash val="solid"/>
              <a:miter/>
            </a:ln>
          </p:spPr>
        </p:sp>
        <p:sp>
          <p:nvSpPr>
            <p:cNvPr name="TextBox 5" id="5"/>
            <p:cNvSpPr txBox="true"/>
            <p:nvPr/>
          </p:nvSpPr>
          <p:spPr>
            <a:xfrm>
              <a:off x="0" y="-19050"/>
              <a:ext cx="4816593" cy="120203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6" id="6"/>
          <p:cNvSpPr/>
          <p:nvPr/>
        </p:nvSpPr>
        <p:spPr>
          <a:xfrm flipH="false" flipV="false" rot="0">
            <a:off x="-450954" y="-2202564"/>
            <a:ext cx="20022907" cy="7670965"/>
          </a:xfrm>
          <a:custGeom>
            <a:avLst/>
            <a:gdLst/>
            <a:ahLst/>
            <a:cxnLst/>
            <a:rect r="r" b="b" t="t" l="l"/>
            <a:pathLst>
              <a:path h="7670965" w="20022907">
                <a:moveTo>
                  <a:pt x="0" y="0"/>
                </a:moveTo>
                <a:lnTo>
                  <a:pt x="20022907" y="0"/>
                </a:lnTo>
                <a:lnTo>
                  <a:pt x="20022907" y="7670965"/>
                </a:lnTo>
                <a:lnTo>
                  <a:pt x="0" y="7670965"/>
                </a:lnTo>
                <a:lnTo>
                  <a:pt x="0" y="0"/>
                </a:lnTo>
                <a:close/>
              </a:path>
            </a:pathLst>
          </a:custGeom>
          <a:blipFill>
            <a:blip r:embed="rId3"/>
            <a:stretch>
              <a:fillRect l="0" t="0" r="0" b="-46852"/>
            </a:stretch>
          </a:blipFill>
        </p:spPr>
      </p:sp>
      <p:grpSp>
        <p:nvGrpSpPr>
          <p:cNvPr name="Group 7" id="7"/>
          <p:cNvGrpSpPr/>
          <p:nvPr/>
        </p:nvGrpSpPr>
        <p:grpSpPr>
          <a:xfrm rot="0">
            <a:off x="2757820" y="2526389"/>
            <a:ext cx="12731346" cy="5884023"/>
            <a:chOff x="0" y="0"/>
            <a:chExt cx="3353112" cy="1549702"/>
          </a:xfrm>
        </p:grpSpPr>
        <p:sp>
          <p:nvSpPr>
            <p:cNvPr name="Freeform 8" id="8"/>
            <p:cNvSpPr/>
            <p:nvPr/>
          </p:nvSpPr>
          <p:spPr>
            <a:xfrm flipH="false" flipV="false" rot="0">
              <a:off x="0" y="0"/>
              <a:ext cx="3353112" cy="1549702"/>
            </a:xfrm>
            <a:custGeom>
              <a:avLst/>
              <a:gdLst/>
              <a:ahLst/>
              <a:cxnLst/>
              <a:rect r="r" b="b" t="t" l="l"/>
              <a:pathLst>
                <a:path h="1549702" w="3353112">
                  <a:moveTo>
                    <a:pt x="15202" y="0"/>
                  </a:moveTo>
                  <a:lnTo>
                    <a:pt x="3337909" y="0"/>
                  </a:lnTo>
                  <a:cubicBezTo>
                    <a:pt x="3341941" y="0"/>
                    <a:pt x="3345808" y="1602"/>
                    <a:pt x="3348659" y="4453"/>
                  </a:cubicBezTo>
                  <a:cubicBezTo>
                    <a:pt x="3351510" y="7304"/>
                    <a:pt x="3353112" y="11171"/>
                    <a:pt x="3353112" y="15202"/>
                  </a:cubicBezTo>
                  <a:lnTo>
                    <a:pt x="3353112" y="1534499"/>
                  </a:lnTo>
                  <a:cubicBezTo>
                    <a:pt x="3353112" y="1538531"/>
                    <a:pt x="3351510" y="1542398"/>
                    <a:pt x="3348659" y="1545249"/>
                  </a:cubicBezTo>
                  <a:cubicBezTo>
                    <a:pt x="3345808" y="1548100"/>
                    <a:pt x="3341941" y="1549702"/>
                    <a:pt x="3337909" y="1549702"/>
                  </a:cubicBezTo>
                  <a:lnTo>
                    <a:pt x="15202" y="1549702"/>
                  </a:lnTo>
                  <a:cubicBezTo>
                    <a:pt x="11171" y="1549702"/>
                    <a:pt x="7304" y="1548100"/>
                    <a:pt x="4453" y="1545249"/>
                  </a:cubicBezTo>
                  <a:cubicBezTo>
                    <a:pt x="1602" y="1542398"/>
                    <a:pt x="0" y="1538531"/>
                    <a:pt x="0" y="1534499"/>
                  </a:cubicBezTo>
                  <a:lnTo>
                    <a:pt x="0" y="15202"/>
                  </a:lnTo>
                  <a:cubicBezTo>
                    <a:pt x="0" y="11171"/>
                    <a:pt x="1602" y="7304"/>
                    <a:pt x="4453" y="4453"/>
                  </a:cubicBezTo>
                  <a:cubicBezTo>
                    <a:pt x="7304" y="1602"/>
                    <a:pt x="11171" y="0"/>
                    <a:pt x="15202" y="0"/>
                  </a:cubicBezTo>
                  <a:close/>
                </a:path>
              </a:pathLst>
            </a:custGeom>
            <a:solidFill>
              <a:srgbClr val="FDFBFB"/>
            </a:solidFill>
            <a:ln cap="rnd">
              <a:noFill/>
              <a:prstDash val="solid"/>
              <a:round/>
            </a:ln>
          </p:spPr>
        </p:sp>
        <p:sp>
          <p:nvSpPr>
            <p:cNvPr name="TextBox 9" id="9"/>
            <p:cNvSpPr txBox="true"/>
            <p:nvPr/>
          </p:nvSpPr>
          <p:spPr>
            <a:xfrm>
              <a:off x="0" y="-19050"/>
              <a:ext cx="3353112" cy="1568752"/>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0" id="10"/>
          <p:cNvGrpSpPr/>
          <p:nvPr/>
        </p:nvGrpSpPr>
        <p:grpSpPr>
          <a:xfrm rot="0">
            <a:off x="16113923" y="9258300"/>
            <a:ext cx="327444" cy="32744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421"/>
            </a:solidFill>
            <a:ln cap="sq">
              <a:noFill/>
              <a:prstDash val="solid"/>
              <a:miter/>
            </a:ln>
          </p:spPr>
        </p:sp>
        <p:sp>
          <p:nvSpPr>
            <p:cNvPr name="TextBox 12" id="12"/>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3" id="13"/>
          <p:cNvGrpSpPr/>
          <p:nvPr/>
        </p:nvGrpSpPr>
        <p:grpSpPr>
          <a:xfrm rot="0">
            <a:off x="15648108" y="9258300"/>
            <a:ext cx="327444" cy="32744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421"/>
            </a:solidFill>
            <a:ln cap="sq">
              <a:noFill/>
              <a:prstDash val="solid"/>
              <a:miter/>
            </a:ln>
          </p:spPr>
        </p:sp>
        <p:sp>
          <p:nvSpPr>
            <p:cNvPr name="TextBox 15" id="1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6" id="16"/>
          <p:cNvGrpSpPr/>
          <p:nvPr/>
        </p:nvGrpSpPr>
        <p:grpSpPr>
          <a:xfrm rot="0">
            <a:off x="15161723" y="9258300"/>
            <a:ext cx="327444" cy="32744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421"/>
            </a:solidFill>
            <a:ln cap="sq">
              <a:noFill/>
              <a:prstDash val="solid"/>
              <a:miter/>
            </a:ln>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9" id="19"/>
          <p:cNvSpPr txBox="true"/>
          <p:nvPr/>
        </p:nvSpPr>
        <p:spPr>
          <a:xfrm rot="0">
            <a:off x="3558350" y="4197614"/>
            <a:ext cx="11150794" cy="3932224"/>
          </a:xfrm>
          <a:prstGeom prst="rect">
            <a:avLst/>
          </a:prstGeom>
        </p:spPr>
        <p:txBody>
          <a:bodyPr anchor="t" rtlCol="false" tIns="0" lIns="0" bIns="0" rIns="0">
            <a:spAutoFit/>
          </a:bodyPr>
          <a:lstStyle/>
          <a:p>
            <a:pPr algn="ctr">
              <a:lnSpc>
                <a:spcPts val="3950"/>
              </a:lnSpc>
            </a:pPr>
            <a:r>
              <a:rPr lang="en-US" sz="2469">
                <a:solidFill>
                  <a:srgbClr val="000000"/>
                </a:solidFill>
                <a:latin typeface="Open Sauce"/>
                <a:ea typeface="Open Sauce"/>
                <a:cs typeface="Open Sauce"/>
                <a:sym typeface="Open Sauce"/>
              </a:rPr>
              <a:t>Walmart is a global retail giant known for offering a wide range of products, including groceries, electronics, clothing, and household items, at affordable prices. With thousands of stores across multiple countries, Walmart strives to provide convenient shopping experiences through both physical locations and its online platform. The company focuses on delivering value to customers while maintaining operational efficiency and a strong supply chain.</a:t>
            </a:r>
          </a:p>
          <a:p>
            <a:pPr algn="ctr">
              <a:lnSpc>
                <a:spcPts val="3950"/>
              </a:lnSpc>
            </a:pPr>
          </a:p>
        </p:txBody>
      </p:sp>
      <p:sp>
        <p:nvSpPr>
          <p:cNvPr name="TextBox 20" id="20"/>
          <p:cNvSpPr txBox="true"/>
          <p:nvPr/>
        </p:nvSpPr>
        <p:spPr>
          <a:xfrm rot="0">
            <a:off x="5679731" y="2788642"/>
            <a:ext cx="6928538" cy="1158738"/>
          </a:xfrm>
          <a:prstGeom prst="rect">
            <a:avLst/>
          </a:prstGeom>
        </p:spPr>
        <p:txBody>
          <a:bodyPr anchor="t" rtlCol="false" tIns="0" lIns="0" bIns="0" rIns="0">
            <a:spAutoFit/>
          </a:bodyPr>
          <a:lstStyle/>
          <a:p>
            <a:pPr algn="ctr" marL="0" indent="0" lvl="0">
              <a:lnSpc>
                <a:spcPts val="9582"/>
              </a:lnSpc>
              <a:spcBef>
                <a:spcPct val="0"/>
              </a:spcBef>
            </a:pPr>
            <a:r>
              <a:rPr lang="en-US" b="true" sz="6844" spc="-136">
                <a:solidFill>
                  <a:srgbClr val="000000"/>
                </a:solidFill>
                <a:latin typeface="Open Sauce Bold"/>
                <a:ea typeface="Open Sauce Bold"/>
                <a:cs typeface="Open Sauce Bold"/>
                <a:sym typeface="Open Sauce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9832433" y="-339559"/>
            <a:ext cx="8956821" cy="11772679"/>
            <a:chOff x="0" y="0"/>
            <a:chExt cx="2171400" cy="2854048"/>
          </a:xfrm>
        </p:grpSpPr>
        <p:sp>
          <p:nvSpPr>
            <p:cNvPr name="Freeform 3" id="3"/>
            <p:cNvSpPr/>
            <p:nvPr/>
          </p:nvSpPr>
          <p:spPr>
            <a:xfrm flipH="false" flipV="false" rot="0">
              <a:off x="0" y="0"/>
              <a:ext cx="2171400" cy="2854048"/>
            </a:xfrm>
            <a:custGeom>
              <a:avLst/>
              <a:gdLst/>
              <a:ahLst/>
              <a:cxnLst/>
              <a:rect r="r" b="b" t="t" l="l"/>
              <a:pathLst>
                <a:path h="2854048" w="2171400">
                  <a:moveTo>
                    <a:pt x="37167" y="0"/>
                  </a:moveTo>
                  <a:lnTo>
                    <a:pt x="2134233" y="0"/>
                  </a:lnTo>
                  <a:cubicBezTo>
                    <a:pt x="2154760" y="0"/>
                    <a:pt x="2171400" y="16640"/>
                    <a:pt x="2171400" y="37167"/>
                  </a:cubicBezTo>
                  <a:lnTo>
                    <a:pt x="2171400" y="2816880"/>
                  </a:lnTo>
                  <a:cubicBezTo>
                    <a:pt x="2171400" y="2826738"/>
                    <a:pt x="2167484" y="2836192"/>
                    <a:pt x="2160514" y="2843162"/>
                  </a:cubicBezTo>
                  <a:cubicBezTo>
                    <a:pt x="2153544" y="2850132"/>
                    <a:pt x="2144090" y="2854048"/>
                    <a:pt x="2134233" y="2854048"/>
                  </a:cubicBezTo>
                  <a:lnTo>
                    <a:pt x="37167" y="2854048"/>
                  </a:lnTo>
                  <a:cubicBezTo>
                    <a:pt x="27310" y="2854048"/>
                    <a:pt x="17856" y="2850132"/>
                    <a:pt x="10886" y="2843162"/>
                  </a:cubicBezTo>
                  <a:cubicBezTo>
                    <a:pt x="3916" y="2836192"/>
                    <a:pt x="0" y="2826738"/>
                    <a:pt x="0" y="2816880"/>
                  </a:cubicBezTo>
                  <a:lnTo>
                    <a:pt x="0" y="37167"/>
                  </a:lnTo>
                  <a:cubicBezTo>
                    <a:pt x="0" y="27310"/>
                    <a:pt x="3916" y="17856"/>
                    <a:pt x="10886" y="10886"/>
                  </a:cubicBezTo>
                  <a:cubicBezTo>
                    <a:pt x="17856" y="3916"/>
                    <a:pt x="27310" y="0"/>
                    <a:pt x="37167" y="0"/>
                  </a:cubicBezTo>
                  <a:close/>
                </a:path>
              </a:pathLst>
            </a:custGeom>
            <a:solidFill>
              <a:srgbClr val="007DC6"/>
            </a:solidFill>
            <a:ln cap="rnd">
              <a:noFill/>
              <a:prstDash val="solid"/>
              <a:round/>
            </a:ln>
          </p:spPr>
        </p:sp>
        <p:sp>
          <p:nvSpPr>
            <p:cNvPr name="TextBox 4" id="4"/>
            <p:cNvSpPr txBox="true"/>
            <p:nvPr/>
          </p:nvSpPr>
          <p:spPr>
            <a:xfrm>
              <a:off x="0" y="-19050"/>
              <a:ext cx="2171400" cy="2873098"/>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9832433" y="-339559"/>
            <a:ext cx="8735127" cy="6811477"/>
            <a:chOff x="0" y="0"/>
            <a:chExt cx="6350000" cy="4951603"/>
          </a:xfrm>
        </p:grpSpPr>
        <p:sp>
          <p:nvSpPr>
            <p:cNvPr name="Freeform 6" id="6"/>
            <p:cNvSpPr/>
            <p:nvPr/>
          </p:nvSpPr>
          <p:spPr>
            <a:xfrm flipH="false" flipV="false" rot="0">
              <a:off x="0" y="0"/>
              <a:ext cx="6349873" cy="4979162"/>
            </a:xfrm>
            <a:custGeom>
              <a:avLst/>
              <a:gdLst/>
              <a:ahLst/>
              <a:cxnLst/>
              <a:rect r="r" b="b" t="t" l="l"/>
              <a:pathLst>
                <a:path h="4979162" w="6349873">
                  <a:moveTo>
                    <a:pt x="292100" y="0"/>
                  </a:moveTo>
                  <a:cubicBezTo>
                    <a:pt x="131445" y="0"/>
                    <a:pt x="0" y="131445"/>
                    <a:pt x="0" y="292100"/>
                  </a:cubicBezTo>
                  <a:lnTo>
                    <a:pt x="0" y="3332480"/>
                  </a:lnTo>
                  <a:cubicBezTo>
                    <a:pt x="0" y="3493135"/>
                    <a:pt x="128397" y="3652520"/>
                    <a:pt x="285369" y="3686683"/>
                  </a:cubicBezTo>
                  <a:lnTo>
                    <a:pt x="6064504" y="4944999"/>
                  </a:lnTo>
                  <a:cubicBezTo>
                    <a:pt x="6221476" y="4979162"/>
                    <a:pt x="6349873" y="4875657"/>
                    <a:pt x="6349873" y="4715002"/>
                  </a:cubicBezTo>
                  <a:lnTo>
                    <a:pt x="6349873" y="292100"/>
                  </a:lnTo>
                  <a:cubicBezTo>
                    <a:pt x="6349873" y="131445"/>
                    <a:pt x="6218428" y="0"/>
                    <a:pt x="6057773" y="0"/>
                  </a:cubicBezTo>
                  <a:lnTo>
                    <a:pt x="292100" y="0"/>
                  </a:lnTo>
                  <a:close/>
                </a:path>
              </a:pathLst>
            </a:custGeom>
            <a:blipFill>
              <a:blip r:embed="rId2"/>
              <a:stretch>
                <a:fillRect l="-8590" t="0" r="-8590" b="0"/>
              </a:stretch>
            </a:blipFill>
          </p:spPr>
        </p:sp>
      </p:grpSp>
      <p:sp>
        <p:nvSpPr>
          <p:cNvPr name="Freeform 7" id="7"/>
          <p:cNvSpPr/>
          <p:nvPr/>
        </p:nvSpPr>
        <p:spPr>
          <a:xfrm flipH="false" flipV="false" rot="0">
            <a:off x="10334905" y="5642237"/>
            <a:ext cx="2264637" cy="1659361"/>
          </a:xfrm>
          <a:custGeom>
            <a:avLst/>
            <a:gdLst/>
            <a:ahLst/>
            <a:cxnLst/>
            <a:rect r="r" b="b" t="t" l="l"/>
            <a:pathLst>
              <a:path h="1659361" w="2264637">
                <a:moveTo>
                  <a:pt x="0" y="0"/>
                </a:moveTo>
                <a:lnTo>
                  <a:pt x="2264637" y="0"/>
                </a:lnTo>
                <a:lnTo>
                  <a:pt x="2264637" y="1659362"/>
                </a:lnTo>
                <a:lnTo>
                  <a:pt x="0" y="1659362"/>
                </a:lnTo>
                <a:lnTo>
                  <a:pt x="0" y="0"/>
                </a:lnTo>
                <a:close/>
              </a:path>
            </a:pathLst>
          </a:custGeom>
          <a:blipFill>
            <a:blip r:embed="rId3">
              <a:alphaModFix amt="15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028700" y="1028700"/>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5"/>
            <a:stretch>
              <a:fillRect l="0" t="-26160" r="0" b="-26160"/>
            </a:stretch>
          </a:blipFill>
        </p:spPr>
      </p:sp>
      <p:sp>
        <p:nvSpPr>
          <p:cNvPr name="TextBox 9" id="9"/>
          <p:cNvSpPr txBox="true"/>
          <p:nvPr/>
        </p:nvSpPr>
        <p:spPr>
          <a:xfrm rot="0">
            <a:off x="1295137" y="2409166"/>
            <a:ext cx="5376858" cy="808613"/>
          </a:xfrm>
          <a:prstGeom prst="rect">
            <a:avLst/>
          </a:prstGeom>
        </p:spPr>
        <p:txBody>
          <a:bodyPr anchor="t" rtlCol="false" tIns="0" lIns="0" bIns="0" rIns="0">
            <a:spAutoFit/>
          </a:bodyPr>
          <a:lstStyle/>
          <a:p>
            <a:pPr algn="l" marL="0" indent="0" lvl="0">
              <a:lnSpc>
                <a:spcPts val="6644"/>
              </a:lnSpc>
              <a:spcBef>
                <a:spcPct val="0"/>
              </a:spcBef>
            </a:pPr>
            <a:r>
              <a:rPr lang="en-US" b="true" sz="4746" spc="-94">
                <a:solidFill>
                  <a:srgbClr val="191919"/>
                </a:solidFill>
                <a:latin typeface="Open Sauce Bold"/>
                <a:ea typeface="Open Sauce Bold"/>
                <a:cs typeface="Open Sauce Bold"/>
                <a:sym typeface="Open Sauce Bold"/>
              </a:rPr>
              <a:t>Business Problem</a:t>
            </a:r>
          </a:p>
        </p:txBody>
      </p:sp>
      <p:sp>
        <p:nvSpPr>
          <p:cNvPr name="TextBox 10" id="10"/>
          <p:cNvSpPr txBox="true"/>
          <p:nvPr/>
        </p:nvSpPr>
        <p:spPr>
          <a:xfrm rot="0">
            <a:off x="1295137" y="3393723"/>
            <a:ext cx="6274156" cy="2262300"/>
          </a:xfrm>
          <a:prstGeom prst="rect">
            <a:avLst/>
          </a:prstGeom>
        </p:spPr>
        <p:txBody>
          <a:bodyPr anchor="t" rtlCol="false" tIns="0" lIns="0" bIns="0" rIns="0">
            <a:spAutoFit/>
          </a:bodyPr>
          <a:lstStyle/>
          <a:p>
            <a:pPr algn="l" marL="0" indent="0" lvl="0">
              <a:lnSpc>
                <a:spcPts val="3656"/>
              </a:lnSpc>
            </a:pPr>
            <a:r>
              <a:rPr lang="en-US" sz="2453" spc="39">
                <a:solidFill>
                  <a:srgbClr val="191919"/>
                </a:solidFill>
                <a:latin typeface="Open Sauce"/>
                <a:ea typeface="Open Sauce"/>
                <a:cs typeface="Open Sauce"/>
                <a:sym typeface="Open Sauce"/>
              </a:rPr>
              <a:t>Walmart wants to optimize its sales strategies by analyzing historical transaction data across branches, customer types, payment methods, and product lines.</a:t>
            </a:r>
          </a:p>
        </p:txBody>
      </p:sp>
      <p:sp>
        <p:nvSpPr>
          <p:cNvPr name="TextBox 11" id="11"/>
          <p:cNvSpPr txBox="true"/>
          <p:nvPr/>
        </p:nvSpPr>
        <p:spPr>
          <a:xfrm rot="0">
            <a:off x="11006445" y="7504574"/>
            <a:ext cx="6608796" cy="795856"/>
          </a:xfrm>
          <a:prstGeom prst="rect">
            <a:avLst/>
          </a:prstGeom>
        </p:spPr>
        <p:txBody>
          <a:bodyPr anchor="t" rtlCol="false" tIns="0" lIns="0" bIns="0" rIns="0">
            <a:spAutoFit/>
          </a:bodyPr>
          <a:lstStyle/>
          <a:p>
            <a:pPr algn="l">
              <a:lnSpc>
                <a:spcPts val="6996"/>
              </a:lnSpc>
            </a:pPr>
            <a:r>
              <a:rPr lang="en-US" b="true" sz="3802" i="true" spc="38">
                <a:solidFill>
                  <a:srgbClr val="FDFBFB"/>
                </a:solidFill>
                <a:latin typeface="Open Sauce Bold Italics"/>
                <a:ea typeface="Open Sauce Bold Italics"/>
                <a:cs typeface="Open Sauce Bold Italics"/>
                <a:sym typeface="Open Sauce Bold Italics"/>
              </a:rPr>
              <a:t>Save money. Live better</a:t>
            </a:r>
          </a:p>
        </p:txBody>
      </p:sp>
      <p:sp>
        <p:nvSpPr>
          <p:cNvPr name="TextBox 12" id="12"/>
          <p:cNvSpPr txBox="true"/>
          <p:nvPr/>
        </p:nvSpPr>
        <p:spPr>
          <a:xfrm rot="0">
            <a:off x="1295137" y="6024749"/>
            <a:ext cx="5376858" cy="808613"/>
          </a:xfrm>
          <a:prstGeom prst="rect">
            <a:avLst/>
          </a:prstGeom>
        </p:spPr>
        <p:txBody>
          <a:bodyPr anchor="t" rtlCol="false" tIns="0" lIns="0" bIns="0" rIns="0">
            <a:spAutoFit/>
          </a:bodyPr>
          <a:lstStyle/>
          <a:p>
            <a:pPr algn="l" marL="0" indent="0" lvl="0">
              <a:lnSpc>
                <a:spcPts val="6644"/>
              </a:lnSpc>
              <a:spcBef>
                <a:spcPct val="0"/>
              </a:spcBef>
            </a:pPr>
            <a:r>
              <a:rPr lang="en-US" b="true" sz="4746" spc="-94">
                <a:solidFill>
                  <a:srgbClr val="191919"/>
                </a:solidFill>
                <a:latin typeface="Open Sauce Bold"/>
                <a:ea typeface="Open Sauce Bold"/>
                <a:cs typeface="Open Sauce Bold"/>
                <a:sym typeface="Open Sauce Bold"/>
              </a:rPr>
              <a:t>Solution</a:t>
            </a:r>
          </a:p>
        </p:txBody>
      </p:sp>
      <p:sp>
        <p:nvSpPr>
          <p:cNvPr name="TextBox 13" id="13"/>
          <p:cNvSpPr txBox="true"/>
          <p:nvPr/>
        </p:nvSpPr>
        <p:spPr>
          <a:xfrm rot="0">
            <a:off x="1295137" y="6996000"/>
            <a:ext cx="6274156" cy="2262300"/>
          </a:xfrm>
          <a:prstGeom prst="rect">
            <a:avLst/>
          </a:prstGeom>
        </p:spPr>
        <p:txBody>
          <a:bodyPr anchor="t" rtlCol="false" tIns="0" lIns="0" bIns="0" rIns="0">
            <a:spAutoFit/>
          </a:bodyPr>
          <a:lstStyle/>
          <a:p>
            <a:pPr algn="l" marL="0" indent="0" lvl="0">
              <a:lnSpc>
                <a:spcPts val="3656"/>
              </a:lnSpc>
            </a:pPr>
            <a:r>
              <a:rPr lang="en-US" sz="2453" spc="39">
                <a:solidFill>
                  <a:srgbClr val="191919"/>
                </a:solidFill>
                <a:latin typeface="Open Sauce"/>
                <a:ea typeface="Open Sauce"/>
                <a:cs typeface="Open Sauce"/>
                <a:sym typeface="Open Sauce"/>
              </a:rPr>
              <a:t>To accomplish this, advanced MySQL queries will be utilized to address complex business questions related to sales performance, customer segmentation, and product trends.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9982955" y="5684611"/>
            <a:ext cx="6493489" cy="3717560"/>
          </a:xfrm>
          <a:custGeom>
            <a:avLst/>
            <a:gdLst/>
            <a:ahLst/>
            <a:cxnLst/>
            <a:rect r="r" b="b" t="t" l="l"/>
            <a:pathLst>
              <a:path h="3717560" w="6493489">
                <a:moveTo>
                  <a:pt x="0" y="0"/>
                </a:moveTo>
                <a:lnTo>
                  <a:pt x="6493489" y="0"/>
                </a:lnTo>
                <a:lnTo>
                  <a:pt x="6493489" y="3717560"/>
                </a:lnTo>
                <a:lnTo>
                  <a:pt x="0" y="3717560"/>
                </a:lnTo>
                <a:lnTo>
                  <a:pt x="0" y="0"/>
                </a:lnTo>
                <a:close/>
              </a:path>
            </a:pathLst>
          </a:custGeom>
          <a:blipFill>
            <a:blip r:embed="rId3"/>
            <a:stretch>
              <a:fillRect l="0" t="-2494" r="0" b="-2494"/>
            </a:stretch>
          </a:blipFill>
        </p:spPr>
      </p:sp>
      <p:sp>
        <p:nvSpPr>
          <p:cNvPr name="Freeform 7" id="7"/>
          <p:cNvSpPr/>
          <p:nvPr/>
        </p:nvSpPr>
        <p:spPr>
          <a:xfrm flipH="false" flipV="false" rot="0">
            <a:off x="9982955" y="1544158"/>
            <a:ext cx="6493489" cy="3717560"/>
          </a:xfrm>
          <a:custGeom>
            <a:avLst/>
            <a:gdLst/>
            <a:ahLst/>
            <a:cxnLst/>
            <a:rect r="r" b="b" t="t" l="l"/>
            <a:pathLst>
              <a:path h="3717560" w="6493489">
                <a:moveTo>
                  <a:pt x="0" y="0"/>
                </a:moveTo>
                <a:lnTo>
                  <a:pt x="6493489" y="0"/>
                </a:lnTo>
                <a:lnTo>
                  <a:pt x="6493489" y="3717560"/>
                </a:lnTo>
                <a:lnTo>
                  <a:pt x="0" y="3717560"/>
                </a:lnTo>
                <a:lnTo>
                  <a:pt x="0" y="0"/>
                </a:lnTo>
                <a:close/>
              </a:path>
            </a:pathLst>
          </a:custGeom>
          <a:blipFill>
            <a:blip r:embed="rId4"/>
            <a:stretch>
              <a:fillRect l="0" t="-3080" r="-1185" b="0"/>
            </a:stretch>
          </a:blipFill>
        </p:spPr>
      </p:sp>
      <p:sp>
        <p:nvSpPr>
          <p:cNvPr name="TextBox 8" id="8"/>
          <p:cNvSpPr txBox="true"/>
          <p:nvPr/>
        </p:nvSpPr>
        <p:spPr>
          <a:xfrm rot="0">
            <a:off x="1440437" y="1842558"/>
            <a:ext cx="6411866" cy="1348994"/>
          </a:xfrm>
          <a:prstGeom prst="rect">
            <a:avLst/>
          </a:prstGeom>
        </p:spPr>
        <p:txBody>
          <a:bodyPr anchor="t" rtlCol="false" tIns="0" lIns="0" bIns="0" rIns="0">
            <a:spAutoFit/>
          </a:bodyPr>
          <a:lstStyle/>
          <a:p>
            <a:pPr algn="l"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Top Branch by Sales Growth</a:t>
            </a:r>
          </a:p>
        </p:txBody>
      </p:sp>
      <p:sp>
        <p:nvSpPr>
          <p:cNvPr name="TextBox 9" id="9"/>
          <p:cNvSpPr txBox="true"/>
          <p:nvPr/>
        </p:nvSpPr>
        <p:spPr>
          <a:xfrm rot="0">
            <a:off x="1440437" y="3410627"/>
            <a:ext cx="427600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Highest Sales</a:t>
            </a:r>
          </a:p>
        </p:txBody>
      </p:sp>
      <p:sp>
        <p:nvSpPr>
          <p:cNvPr name="TextBox 10" id="10"/>
          <p:cNvSpPr txBox="true"/>
          <p:nvPr/>
        </p:nvSpPr>
        <p:spPr>
          <a:xfrm rot="0">
            <a:off x="1440437" y="3839522"/>
            <a:ext cx="6609283" cy="678063"/>
          </a:xfrm>
          <a:prstGeom prst="rect">
            <a:avLst/>
          </a:prstGeom>
        </p:spPr>
        <p:txBody>
          <a:bodyPr anchor="t" rtlCol="false" tIns="0" lIns="0" bIns="0" rIns="0">
            <a:spAutoFit/>
          </a:bodyPr>
          <a:lstStyle/>
          <a:p>
            <a:pPr algn="l" marL="0" indent="0" lvl="0">
              <a:lnSpc>
                <a:spcPts val="2800"/>
              </a:lnSpc>
            </a:pPr>
            <a:r>
              <a:rPr lang="en-US" sz="1866">
                <a:solidFill>
                  <a:srgbClr val="343432"/>
                </a:solidFill>
                <a:latin typeface="Open Sauce"/>
                <a:ea typeface="Open Sauce"/>
                <a:cs typeface="Open Sauce"/>
                <a:sym typeface="Open Sauce"/>
              </a:rPr>
              <a:t>It was done by Product Line of Food and beverages with total sale of $56144.96</a:t>
            </a:r>
          </a:p>
        </p:txBody>
      </p:sp>
      <p:sp>
        <p:nvSpPr>
          <p:cNvPr name="TextBox 11" id="11"/>
          <p:cNvSpPr txBox="true"/>
          <p:nvPr/>
        </p:nvSpPr>
        <p:spPr>
          <a:xfrm rot="0">
            <a:off x="1440437" y="5086350"/>
            <a:ext cx="4493466"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Branch wise Sales</a:t>
            </a:r>
          </a:p>
        </p:txBody>
      </p:sp>
      <p:sp>
        <p:nvSpPr>
          <p:cNvPr name="TextBox 12" id="12"/>
          <p:cNvSpPr txBox="true"/>
          <p:nvPr/>
        </p:nvSpPr>
        <p:spPr>
          <a:xfrm rot="0">
            <a:off x="1440437" y="5515245"/>
            <a:ext cx="6609283" cy="678063"/>
          </a:xfrm>
          <a:prstGeom prst="rect">
            <a:avLst/>
          </a:prstGeom>
        </p:spPr>
        <p:txBody>
          <a:bodyPr anchor="t" rtlCol="false" tIns="0" lIns="0" bIns="0" rIns="0">
            <a:spAutoFit/>
          </a:bodyPr>
          <a:lstStyle/>
          <a:p>
            <a:pPr algn="l" marL="0" indent="0" lvl="0">
              <a:lnSpc>
                <a:spcPts val="2800"/>
              </a:lnSpc>
            </a:pPr>
            <a:r>
              <a:rPr lang="en-US" sz="1866">
                <a:solidFill>
                  <a:srgbClr val="343432"/>
                </a:solidFill>
                <a:latin typeface="Open Sauce"/>
                <a:ea typeface="Open Sauce"/>
                <a:cs typeface="Open Sauce"/>
                <a:sym typeface="Open Sauce"/>
              </a:rPr>
              <a:t>Branch C has the highest total sales, followed by Branch A and Branch B.</a:t>
            </a:r>
          </a:p>
        </p:txBody>
      </p:sp>
      <p:sp>
        <p:nvSpPr>
          <p:cNvPr name="TextBox 13" id="13"/>
          <p:cNvSpPr txBox="true"/>
          <p:nvPr/>
        </p:nvSpPr>
        <p:spPr>
          <a:xfrm rot="0">
            <a:off x="1440437" y="6872702"/>
            <a:ext cx="427600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Growth Rate</a:t>
            </a:r>
          </a:p>
        </p:txBody>
      </p:sp>
      <p:sp>
        <p:nvSpPr>
          <p:cNvPr name="TextBox 14" id="14"/>
          <p:cNvSpPr txBox="true"/>
          <p:nvPr/>
        </p:nvSpPr>
        <p:spPr>
          <a:xfrm rot="0">
            <a:off x="1440437" y="7301597"/>
            <a:ext cx="6609283" cy="2100574"/>
          </a:xfrm>
          <a:prstGeom prst="rect">
            <a:avLst/>
          </a:prstGeom>
        </p:spPr>
        <p:txBody>
          <a:bodyPr anchor="t" rtlCol="false" tIns="0" lIns="0" bIns="0" rIns="0">
            <a:spAutoFit/>
          </a:bodyPr>
          <a:lstStyle/>
          <a:p>
            <a:pPr algn="l">
              <a:lnSpc>
                <a:spcPts val="2800"/>
              </a:lnSpc>
            </a:pPr>
            <a:r>
              <a:rPr lang="en-US" sz="1866">
                <a:solidFill>
                  <a:srgbClr val="343432"/>
                </a:solidFill>
                <a:latin typeface="Open Sauce"/>
                <a:ea typeface="Open Sauce"/>
                <a:cs typeface="Open Sauce"/>
                <a:sym typeface="Open Sauce"/>
              </a:rPr>
              <a:t>Branch B leads with an average growth rate of 12.24%, showing the highest growth despite having the lowest total sales.</a:t>
            </a:r>
          </a:p>
          <a:p>
            <a:pPr algn="l">
              <a:lnSpc>
                <a:spcPts val="2800"/>
              </a:lnSpc>
            </a:pPr>
            <a:r>
              <a:rPr lang="en-US" sz="1866">
                <a:solidFill>
                  <a:srgbClr val="343432"/>
                </a:solidFill>
                <a:latin typeface="Open Sauce"/>
                <a:ea typeface="Open Sauce"/>
                <a:cs typeface="Open Sauce"/>
                <a:sym typeface="Open Sauce"/>
              </a:rPr>
              <a:t>Branch A experienced a negative growth rate of -9.004%, indicating a decline in sales over time.</a:t>
            </a:r>
          </a:p>
          <a:p>
            <a:pPr algn="l" marL="0" indent="0" lvl="0">
              <a:lnSpc>
                <a:spcPts val="28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1596206" y="1727741"/>
            <a:ext cx="6480887" cy="2103657"/>
          </a:xfrm>
          <a:custGeom>
            <a:avLst/>
            <a:gdLst/>
            <a:ahLst/>
            <a:cxnLst/>
            <a:rect r="r" b="b" t="t" l="l"/>
            <a:pathLst>
              <a:path h="2103657" w="6480887">
                <a:moveTo>
                  <a:pt x="0" y="0"/>
                </a:moveTo>
                <a:lnTo>
                  <a:pt x="6480887" y="0"/>
                </a:lnTo>
                <a:lnTo>
                  <a:pt x="6480887" y="2103657"/>
                </a:lnTo>
                <a:lnTo>
                  <a:pt x="0" y="2103657"/>
                </a:lnTo>
                <a:lnTo>
                  <a:pt x="0" y="0"/>
                </a:lnTo>
                <a:close/>
              </a:path>
            </a:pathLst>
          </a:custGeom>
          <a:blipFill>
            <a:blip r:embed="rId2"/>
            <a:stretch>
              <a:fillRect l="0" t="0" r="-135105" b="0"/>
            </a:stretch>
          </a:blipFill>
        </p:spPr>
      </p:sp>
      <p:sp>
        <p:nvSpPr>
          <p:cNvPr name="Freeform 12" id="12"/>
          <p:cNvSpPr/>
          <p:nvPr/>
        </p:nvSpPr>
        <p:spPr>
          <a:xfrm flipH="false" flipV="false" rot="0">
            <a:off x="9144000" y="1955840"/>
            <a:ext cx="7304991" cy="1029309"/>
          </a:xfrm>
          <a:custGeom>
            <a:avLst/>
            <a:gdLst/>
            <a:ahLst/>
            <a:cxnLst/>
            <a:rect r="r" b="b" t="t" l="l"/>
            <a:pathLst>
              <a:path h="1029309" w="7304991">
                <a:moveTo>
                  <a:pt x="0" y="0"/>
                </a:moveTo>
                <a:lnTo>
                  <a:pt x="7304991" y="0"/>
                </a:lnTo>
                <a:lnTo>
                  <a:pt x="7304991" y="1029309"/>
                </a:lnTo>
                <a:lnTo>
                  <a:pt x="0" y="1029309"/>
                </a:lnTo>
                <a:lnTo>
                  <a:pt x="0" y="0"/>
                </a:lnTo>
                <a:close/>
              </a:path>
            </a:pathLst>
          </a:custGeom>
          <a:blipFill>
            <a:blip r:embed="rId3"/>
            <a:stretch>
              <a:fillRect l="0" t="0" r="-26801" b="-3555"/>
            </a:stretch>
          </a:blipFill>
        </p:spPr>
      </p:sp>
      <p:sp>
        <p:nvSpPr>
          <p:cNvPr name="Freeform 13" id="13"/>
          <p:cNvSpPr/>
          <p:nvPr/>
        </p:nvSpPr>
        <p:spPr>
          <a:xfrm flipH="false" flipV="false" rot="0">
            <a:off x="9144000" y="4210283"/>
            <a:ext cx="7304991" cy="1265648"/>
          </a:xfrm>
          <a:custGeom>
            <a:avLst/>
            <a:gdLst/>
            <a:ahLst/>
            <a:cxnLst/>
            <a:rect r="r" b="b" t="t" l="l"/>
            <a:pathLst>
              <a:path h="1265648" w="7304991">
                <a:moveTo>
                  <a:pt x="0" y="0"/>
                </a:moveTo>
                <a:lnTo>
                  <a:pt x="7304991" y="0"/>
                </a:lnTo>
                <a:lnTo>
                  <a:pt x="7304991" y="1265649"/>
                </a:lnTo>
                <a:lnTo>
                  <a:pt x="0" y="1265649"/>
                </a:lnTo>
                <a:lnTo>
                  <a:pt x="0" y="0"/>
                </a:lnTo>
                <a:close/>
              </a:path>
            </a:pathLst>
          </a:custGeom>
          <a:blipFill>
            <a:blip r:embed="rId4"/>
            <a:stretch>
              <a:fillRect l="0" t="0" r="0" b="0"/>
            </a:stretch>
          </a:blipFill>
        </p:spPr>
      </p:sp>
      <p:sp>
        <p:nvSpPr>
          <p:cNvPr name="Freeform 14" id="14"/>
          <p:cNvSpPr/>
          <p:nvPr/>
        </p:nvSpPr>
        <p:spPr>
          <a:xfrm flipH="false" flipV="false" rot="0">
            <a:off x="1596206" y="4210283"/>
            <a:ext cx="6480887" cy="5436143"/>
          </a:xfrm>
          <a:custGeom>
            <a:avLst/>
            <a:gdLst/>
            <a:ahLst/>
            <a:cxnLst/>
            <a:rect r="r" b="b" t="t" l="l"/>
            <a:pathLst>
              <a:path h="5436143" w="6480887">
                <a:moveTo>
                  <a:pt x="0" y="0"/>
                </a:moveTo>
                <a:lnTo>
                  <a:pt x="6480887" y="0"/>
                </a:lnTo>
                <a:lnTo>
                  <a:pt x="6480887" y="5436143"/>
                </a:lnTo>
                <a:lnTo>
                  <a:pt x="0" y="5436143"/>
                </a:lnTo>
                <a:lnTo>
                  <a:pt x="0" y="0"/>
                </a:lnTo>
                <a:close/>
              </a:path>
            </a:pathLst>
          </a:custGeom>
          <a:blipFill>
            <a:blip r:embed="rId5"/>
            <a:stretch>
              <a:fillRect l="0" t="0" r="-134702" b="0"/>
            </a:stretch>
          </a:blipFill>
        </p:spPr>
      </p:sp>
      <p:sp>
        <p:nvSpPr>
          <p:cNvPr name="Freeform 15" id="15"/>
          <p:cNvSpPr/>
          <p:nvPr/>
        </p:nvSpPr>
        <p:spPr>
          <a:xfrm flipH="false" flipV="false" rot="0">
            <a:off x="9144000" y="6633635"/>
            <a:ext cx="7304991" cy="1489929"/>
          </a:xfrm>
          <a:custGeom>
            <a:avLst/>
            <a:gdLst/>
            <a:ahLst/>
            <a:cxnLst/>
            <a:rect r="r" b="b" t="t" l="l"/>
            <a:pathLst>
              <a:path h="1489929" w="7304991">
                <a:moveTo>
                  <a:pt x="0" y="0"/>
                </a:moveTo>
                <a:lnTo>
                  <a:pt x="7304991" y="0"/>
                </a:lnTo>
                <a:lnTo>
                  <a:pt x="7304991" y="1489928"/>
                </a:lnTo>
                <a:lnTo>
                  <a:pt x="0" y="1489928"/>
                </a:lnTo>
                <a:lnTo>
                  <a:pt x="0" y="0"/>
                </a:lnTo>
                <a:close/>
              </a:path>
            </a:pathLst>
          </a:custGeom>
          <a:blipFill>
            <a:blip r:embed="rId6"/>
            <a:stretch>
              <a:fillRect l="0" t="0" r="0" b="0"/>
            </a:stretch>
          </a:blipFill>
        </p:spPr>
      </p:sp>
      <p:sp>
        <p:nvSpPr>
          <p:cNvPr name="TextBox 16" id="16"/>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1 : MySQL query and Output Table</a:t>
            </a:r>
          </a:p>
        </p:txBody>
      </p:sp>
      <p:sp>
        <p:nvSpPr>
          <p:cNvPr name="Freeform 17" id="17"/>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7"/>
            <a:stretch>
              <a:fillRect l="0" t="-26160" r="0" b="-2616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57150"/>
              <a:ext cx="4816593" cy="2757010"/>
            </a:xfrm>
            <a:prstGeom prst="rect">
              <a:avLst/>
            </a:prstGeom>
          </p:spPr>
          <p:txBody>
            <a:bodyPr anchor="ctr" rtlCol="false" tIns="50800" lIns="50800" bIns="50800" rIns="50800"/>
            <a:lstStyle/>
            <a:p>
              <a:pPr algn="l" marL="0" indent="0" lvl="0">
                <a:lnSpc>
                  <a:spcPts val="2800"/>
                </a:lnSpc>
                <a:spcBef>
                  <a:spcPct val="0"/>
                </a:spcBef>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8750920" y="2847751"/>
            <a:ext cx="8508380" cy="5114079"/>
          </a:xfrm>
          <a:custGeom>
            <a:avLst/>
            <a:gdLst/>
            <a:ahLst/>
            <a:cxnLst/>
            <a:rect r="r" b="b" t="t" l="l"/>
            <a:pathLst>
              <a:path h="5114079" w="8508380">
                <a:moveTo>
                  <a:pt x="0" y="0"/>
                </a:moveTo>
                <a:lnTo>
                  <a:pt x="8508380" y="0"/>
                </a:lnTo>
                <a:lnTo>
                  <a:pt x="8508380" y="5114079"/>
                </a:lnTo>
                <a:lnTo>
                  <a:pt x="0" y="5114079"/>
                </a:lnTo>
                <a:lnTo>
                  <a:pt x="0" y="0"/>
                </a:lnTo>
                <a:close/>
              </a:path>
            </a:pathLst>
          </a:custGeom>
          <a:blipFill>
            <a:blip r:embed="rId3"/>
            <a:stretch>
              <a:fillRect l="0" t="0" r="0" b="0"/>
            </a:stretch>
          </a:blipFill>
        </p:spPr>
      </p:sp>
      <p:sp>
        <p:nvSpPr>
          <p:cNvPr name="TextBox 7" id="7"/>
          <p:cNvSpPr txBox="true"/>
          <p:nvPr/>
        </p:nvSpPr>
        <p:spPr>
          <a:xfrm rot="0">
            <a:off x="1440437" y="1842558"/>
            <a:ext cx="6411866" cy="1348994"/>
          </a:xfrm>
          <a:prstGeom prst="rect">
            <a:avLst/>
          </a:prstGeom>
        </p:spPr>
        <p:txBody>
          <a:bodyPr anchor="t" rtlCol="false" tIns="0" lIns="0" bIns="0" rIns="0">
            <a:spAutoFit/>
          </a:bodyPr>
          <a:lstStyle/>
          <a:p>
            <a:pPr algn="l"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Most Profitable Product Line</a:t>
            </a:r>
          </a:p>
        </p:txBody>
      </p:sp>
      <p:sp>
        <p:nvSpPr>
          <p:cNvPr name="TextBox 8" id="8"/>
          <p:cNvSpPr txBox="true"/>
          <p:nvPr/>
        </p:nvSpPr>
        <p:spPr>
          <a:xfrm rot="0">
            <a:off x="1440437" y="3410627"/>
            <a:ext cx="427600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Analysis</a:t>
            </a:r>
          </a:p>
        </p:txBody>
      </p:sp>
      <p:sp>
        <p:nvSpPr>
          <p:cNvPr name="TextBox 9" id="9"/>
          <p:cNvSpPr txBox="true"/>
          <p:nvPr/>
        </p:nvSpPr>
        <p:spPr>
          <a:xfrm rot="0">
            <a:off x="1440437" y="4064638"/>
            <a:ext cx="6609283" cy="2452999"/>
          </a:xfrm>
          <a:prstGeom prst="rect">
            <a:avLst/>
          </a:prstGeom>
        </p:spPr>
        <p:txBody>
          <a:bodyPr anchor="t" rtlCol="false" tIns="0" lIns="0" bIns="0" rIns="0">
            <a:spAutoFit/>
          </a:bodyPr>
          <a:lstStyle/>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Branch C: The most profitable product line is Fashion accessories, with a profit margin of $943.35.</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Branch A: The most profitable product line is Fashion accessories, with a profit margin of $940.31.</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Branch B: The most profitable product line is Home and lifestyle, with a profit margin of $925.11.</a:t>
            </a:r>
          </a:p>
          <a:p>
            <a:pPr algn="l" marL="0" indent="0" lvl="0">
              <a:lnSpc>
                <a:spcPts val="2800"/>
              </a:lnSpc>
            </a:pPr>
          </a:p>
        </p:txBody>
      </p:sp>
      <p:sp>
        <p:nvSpPr>
          <p:cNvPr name="TextBox 10" id="10"/>
          <p:cNvSpPr txBox="true"/>
          <p:nvPr/>
        </p:nvSpPr>
        <p:spPr>
          <a:xfrm rot="0">
            <a:off x="1440437" y="6460487"/>
            <a:ext cx="427600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Conclusion</a:t>
            </a:r>
          </a:p>
        </p:txBody>
      </p:sp>
      <p:sp>
        <p:nvSpPr>
          <p:cNvPr name="TextBox 11" id="11"/>
          <p:cNvSpPr txBox="true"/>
          <p:nvPr/>
        </p:nvSpPr>
        <p:spPr>
          <a:xfrm rot="0">
            <a:off x="1440437" y="7165607"/>
            <a:ext cx="6609283" cy="690874"/>
          </a:xfrm>
          <a:prstGeom prst="rect">
            <a:avLst/>
          </a:prstGeom>
        </p:spPr>
        <p:txBody>
          <a:bodyPr anchor="t" rtlCol="false" tIns="0" lIns="0" bIns="0" rIns="0">
            <a:spAutoFit/>
          </a:bodyPr>
          <a:lstStyle/>
          <a:p>
            <a:pPr algn="l" marL="0" indent="0" lvl="0">
              <a:lnSpc>
                <a:spcPts val="2800"/>
              </a:lnSpc>
            </a:pPr>
            <a:r>
              <a:rPr lang="en-US" sz="1866">
                <a:solidFill>
                  <a:srgbClr val="343432"/>
                </a:solidFill>
                <a:latin typeface="Open Sauce"/>
                <a:ea typeface="Open Sauce"/>
                <a:cs typeface="Open Sauce"/>
                <a:sym typeface="Open Sauce"/>
              </a:rPr>
              <a:t>Fashion accessories is the top performer in branches A and C, while Home and lifestyle leads in branch B.</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3378036" y="5398063"/>
            <a:ext cx="11531929" cy="1787402"/>
          </a:xfrm>
          <a:custGeom>
            <a:avLst/>
            <a:gdLst/>
            <a:ahLst/>
            <a:cxnLst/>
            <a:rect r="r" b="b" t="t" l="l"/>
            <a:pathLst>
              <a:path h="1787402" w="11531929">
                <a:moveTo>
                  <a:pt x="0" y="0"/>
                </a:moveTo>
                <a:lnTo>
                  <a:pt x="11531928" y="0"/>
                </a:lnTo>
                <a:lnTo>
                  <a:pt x="11531928" y="1787402"/>
                </a:lnTo>
                <a:lnTo>
                  <a:pt x="0" y="1787402"/>
                </a:lnTo>
                <a:lnTo>
                  <a:pt x="0" y="0"/>
                </a:lnTo>
                <a:close/>
              </a:path>
            </a:pathLst>
          </a:custGeom>
          <a:blipFill>
            <a:blip r:embed="rId2"/>
            <a:stretch>
              <a:fillRect l="0" t="0" r="-205858" b="0"/>
            </a:stretch>
          </a:blipFill>
        </p:spPr>
      </p:sp>
      <p:sp>
        <p:nvSpPr>
          <p:cNvPr name="Freeform 12" id="12"/>
          <p:cNvSpPr/>
          <p:nvPr/>
        </p:nvSpPr>
        <p:spPr>
          <a:xfrm flipH="false" flipV="false" rot="0">
            <a:off x="2664109" y="2328476"/>
            <a:ext cx="12959781" cy="2549830"/>
          </a:xfrm>
          <a:custGeom>
            <a:avLst/>
            <a:gdLst/>
            <a:ahLst/>
            <a:cxnLst/>
            <a:rect r="r" b="b" t="t" l="l"/>
            <a:pathLst>
              <a:path h="2549830" w="12959781">
                <a:moveTo>
                  <a:pt x="0" y="0"/>
                </a:moveTo>
                <a:lnTo>
                  <a:pt x="12959782" y="0"/>
                </a:lnTo>
                <a:lnTo>
                  <a:pt x="12959782" y="2549830"/>
                </a:lnTo>
                <a:lnTo>
                  <a:pt x="0" y="2549830"/>
                </a:lnTo>
                <a:lnTo>
                  <a:pt x="0" y="0"/>
                </a:lnTo>
                <a:close/>
              </a:path>
            </a:pathLst>
          </a:custGeom>
          <a:blipFill>
            <a:blip r:embed="rId3"/>
            <a:stretch>
              <a:fillRect l="-3069" t="0" r="-185721"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2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0660"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210617" y="1028700"/>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1396906" y="3077108"/>
            <a:ext cx="7484325" cy="4132785"/>
          </a:xfrm>
          <a:custGeom>
            <a:avLst/>
            <a:gdLst/>
            <a:ahLst/>
            <a:cxnLst/>
            <a:rect r="r" b="b" t="t" l="l"/>
            <a:pathLst>
              <a:path h="4132785" w="7484325">
                <a:moveTo>
                  <a:pt x="0" y="0"/>
                </a:moveTo>
                <a:lnTo>
                  <a:pt x="7484325" y="0"/>
                </a:lnTo>
                <a:lnTo>
                  <a:pt x="7484325" y="4132784"/>
                </a:lnTo>
                <a:lnTo>
                  <a:pt x="0" y="4132784"/>
                </a:lnTo>
                <a:lnTo>
                  <a:pt x="0" y="0"/>
                </a:lnTo>
                <a:close/>
              </a:path>
            </a:pathLst>
          </a:custGeom>
          <a:blipFill>
            <a:blip r:embed="rId3"/>
            <a:stretch>
              <a:fillRect l="0" t="0" r="0" b="0"/>
            </a:stretch>
          </a:blipFill>
        </p:spPr>
      </p:sp>
      <p:sp>
        <p:nvSpPr>
          <p:cNvPr name="Freeform 7" id="7"/>
          <p:cNvSpPr/>
          <p:nvPr/>
        </p:nvSpPr>
        <p:spPr>
          <a:xfrm flipH="false" flipV="false" rot="0">
            <a:off x="9806192" y="3090088"/>
            <a:ext cx="6844707" cy="4106824"/>
          </a:xfrm>
          <a:custGeom>
            <a:avLst/>
            <a:gdLst/>
            <a:ahLst/>
            <a:cxnLst/>
            <a:rect r="r" b="b" t="t" l="l"/>
            <a:pathLst>
              <a:path h="4106824" w="6844707">
                <a:moveTo>
                  <a:pt x="0" y="0"/>
                </a:moveTo>
                <a:lnTo>
                  <a:pt x="6844707" y="0"/>
                </a:lnTo>
                <a:lnTo>
                  <a:pt x="6844707" y="4106824"/>
                </a:lnTo>
                <a:lnTo>
                  <a:pt x="0" y="4106824"/>
                </a:lnTo>
                <a:lnTo>
                  <a:pt x="0" y="0"/>
                </a:lnTo>
                <a:close/>
              </a:path>
            </a:pathLst>
          </a:custGeom>
          <a:blipFill>
            <a:blip r:embed="rId4"/>
            <a:stretch>
              <a:fillRect l="0" t="0" r="0" b="0"/>
            </a:stretch>
          </a:blipFill>
        </p:spPr>
      </p:sp>
      <p:sp>
        <p:nvSpPr>
          <p:cNvPr name="TextBox 8" id="8"/>
          <p:cNvSpPr txBox="true"/>
          <p:nvPr/>
        </p:nvSpPr>
        <p:spPr>
          <a:xfrm rot="0">
            <a:off x="4582883" y="1485366"/>
            <a:ext cx="912223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Customer Segmentation by Spending</a:t>
            </a:r>
          </a:p>
        </p:txBody>
      </p:sp>
      <p:sp>
        <p:nvSpPr>
          <p:cNvPr name="TextBox 9" id="9"/>
          <p:cNvSpPr txBox="true"/>
          <p:nvPr/>
        </p:nvSpPr>
        <p:spPr>
          <a:xfrm rot="0">
            <a:off x="7006000" y="2244151"/>
            <a:ext cx="4276000" cy="480399"/>
          </a:xfrm>
          <a:prstGeom prst="rect">
            <a:avLst/>
          </a:prstGeom>
        </p:spPr>
        <p:txBody>
          <a:bodyPr anchor="t" rtlCol="false" tIns="0" lIns="0" bIns="0" rIns="0">
            <a:spAutoFit/>
          </a:bodyPr>
          <a:lstStyle/>
          <a:p>
            <a:pPr algn="ctr"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Analysis</a:t>
            </a:r>
          </a:p>
        </p:txBody>
      </p:sp>
      <p:sp>
        <p:nvSpPr>
          <p:cNvPr name="TextBox 10" id="10"/>
          <p:cNvSpPr txBox="true"/>
          <p:nvPr/>
        </p:nvSpPr>
        <p:spPr>
          <a:xfrm rot="0">
            <a:off x="6725340" y="7523152"/>
            <a:ext cx="4276000" cy="480399"/>
          </a:xfrm>
          <a:prstGeom prst="rect">
            <a:avLst/>
          </a:prstGeom>
        </p:spPr>
        <p:txBody>
          <a:bodyPr anchor="t" rtlCol="false" tIns="0" lIns="0" bIns="0" rIns="0">
            <a:spAutoFit/>
          </a:bodyPr>
          <a:lstStyle/>
          <a:p>
            <a:pPr algn="ctr"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Conclusion</a:t>
            </a:r>
          </a:p>
        </p:txBody>
      </p:sp>
      <p:sp>
        <p:nvSpPr>
          <p:cNvPr name="TextBox 11" id="11"/>
          <p:cNvSpPr txBox="true"/>
          <p:nvPr/>
        </p:nvSpPr>
        <p:spPr>
          <a:xfrm rot="0">
            <a:off x="4918513" y="8098801"/>
            <a:ext cx="7925435" cy="1395724"/>
          </a:xfrm>
          <a:prstGeom prst="rect">
            <a:avLst/>
          </a:prstGeom>
        </p:spPr>
        <p:txBody>
          <a:bodyPr anchor="t" rtlCol="false" tIns="0" lIns="0" bIns="0" rIns="0">
            <a:spAutoFit/>
          </a:bodyPr>
          <a:lstStyle/>
          <a:p>
            <a:pPr algn="ctr">
              <a:lnSpc>
                <a:spcPts val="2800"/>
              </a:lnSpc>
            </a:pPr>
            <a:r>
              <a:rPr lang="en-US" b="true" sz="1866">
                <a:solidFill>
                  <a:srgbClr val="343432"/>
                </a:solidFill>
                <a:latin typeface="Open Sauce Bold"/>
                <a:ea typeface="Open Sauce Bold"/>
                <a:cs typeface="Open Sauce Bold"/>
                <a:sym typeface="Open Sauce Bold"/>
              </a:rPr>
              <a:t>Low spenders</a:t>
            </a:r>
            <a:r>
              <a:rPr lang="en-US" sz="1866">
                <a:solidFill>
                  <a:srgbClr val="343432"/>
                </a:solidFill>
                <a:latin typeface="Open Sauce"/>
                <a:ea typeface="Open Sauce"/>
                <a:cs typeface="Open Sauce"/>
                <a:sym typeface="Open Sauce"/>
              </a:rPr>
              <a:t> contribute the highest total sales across all cities and genders, with a total of $163,412.56.</a:t>
            </a:r>
          </a:p>
          <a:p>
            <a:pPr algn="ctr">
              <a:lnSpc>
                <a:spcPts val="2800"/>
              </a:lnSpc>
            </a:pPr>
            <a:r>
              <a:rPr lang="en-US" b="true" sz="1866">
                <a:solidFill>
                  <a:srgbClr val="343432"/>
                </a:solidFill>
                <a:latin typeface="Open Sauce Bold"/>
                <a:ea typeface="Open Sauce Bold"/>
                <a:cs typeface="Open Sauce Bold"/>
                <a:sym typeface="Open Sauce Bold"/>
              </a:rPr>
              <a:t>Medium spenders</a:t>
            </a:r>
            <a:r>
              <a:rPr lang="en-US" sz="1866">
                <a:solidFill>
                  <a:srgbClr val="343432"/>
                </a:solidFill>
                <a:latin typeface="Open Sauce"/>
                <a:ea typeface="Open Sauce"/>
                <a:cs typeface="Open Sauce"/>
                <a:sym typeface="Open Sauce"/>
              </a:rPr>
              <a:t> follow with $123,148.25 in total sales.</a:t>
            </a:r>
          </a:p>
          <a:p>
            <a:pPr algn="ctr">
              <a:lnSpc>
                <a:spcPts val="2800"/>
              </a:lnSpc>
            </a:pPr>
            <a:r>
              <a:rPr lang="en-US" b="true" sz="1866">
                <a:solidFill>
                  <a:srgbClr val="343432"/>
                </a:solidFill>
                <a:latin typeface="Open Sauce Bold"/>
                <a:ea typeface="Open Sauce Bold"/>
                <a:cs typeface="Open Sauce Bold"/>
                <a:sym typeface="Open Sauce Bold"/>
              </a:rPr>
              <a:t>High spenders</a:t>
            </a:r>
            <a:r>
              <a:rPr lang="en-US" sz="1866">
                <a:solidFill>
                  <a:srgbClr val="343432"/>
                </a:solidFill>
                <a:latin typeface="Open Sauce"/>
                <a:ea typeface="Open Sauce"/>
                <a:cs typeface="Open Sauce"/>
                <a:sym typeface="Open Sauce"/>
              </a:rPr>
              <a:t> contribute the least, totaling $36,406.62.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1028700" y="2100713"/>
            <a:ext cx="6787387" cy="6402482"/>
          </a:xfrm>
          <a:custGeom>
            <a:avLst/>
            <a:gdLst/>
            <a:ahLst/>
            <a:cxnLst/>
            <a:rect r="r" b="b" t="t" l="l"/>
            <a:pathLst>
              <a:path h="6402482" w="6787387">
                <a:moveTo>
                  <a:pt x="0" y="0"/>
                </a:moveTo>
                <a:lnTo>
                  <a:pt x="6787387" y="0"/>
                </a:lnTo>
                <a:lnTo>
                  <a:pt x="6787387" y="6402483"/>
                </a:lnTo>
                <a:lnTo>
                  <a:pt x="0" y="6402483"/>
                </a:lnTo>
                <a:lnTo>
                  <a:pt x="0" y="0"/>
                </a:lnTo>
                <a:close/>
              </a:path>
            </a:pathLst>
          </a:custGeom>
          <a:blipFill>
            <a:blip r:embed="rId2"/>
            <a:stretch>
              <a:fillRect l="-960" t="0" r="-169746" b="0"/>
            </a:stretch>
          </a:blipFill>
        </p:spPr>
      </p:sp>
      <p:sp>
        <p:nvSpPr>
          <p:cNvPr name="Freeform 12" id="12"/>
          <p:cNvSpPr/>
          <p:nvPr/>
        </p:nvSpPr>
        <p:spPr>
          <a:xfrm flipH="false" flipV="false" rot="0">
            <a:off x="7816087" y="4426138"/>
            <a:ext cx="9443213" cy="1751632"/>
          </a:xfrm>
          <a:custGeom>
            <a:avLst/>
            <a:gdLst/>
            <a:ahLst/>
            <a:cxnLst/>
            <a:rect r="r" b="b" t="t" l="l"/>
            <a:pathLst>
              <a:path h="1751632" w="9443213">
                <a:moveTo>
                  <a:pt x="0" y="0"/>
                </a:moveTo>
                <a:lnTo>
                  <a:pt x="9443213" y="0"/>
                </a:lnTo>
                <a:lnTo>
                  <a:pt x="9443213" y="1751633"/>
                </a:lnTo>
                <a:lnTo>
                  <a:pt x="0" y="1751633"/>
                </a:lnTo>
                <a:lnTo>
                  <a:pt x="0" y="0"/>
                </a:lnTo>
                <a:close/>
              </a:path>
            </a:pathLst>
          </a:custGeom>
          <a:blipFill>
            <a:blip r:embed="rId3"/>
            <a:stretch>
              <a:fillRect l="-1876" t="0" r="-162541"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3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210617" y="1028700"/>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1028700" y="3147917"/>
            <a:ext cx="7648858" cy="4327014"/>
          </a:xfrm>
          <a:custGeom>
            <a:avLst/>
            <a:gdLst/>
            <a:ahLst/>
            <a:cxnLst/>
            <a:rect r="r" b="b" t="t" l="l"/>
            <a:pathLst>
              <a:path h="4327014" w="7648858">
                <a:moveTo>
                  <a:pt x="0" y="0"/>
                </a:moveTo>
                <a:lnTo>
                  <a:pt x="7648858" y="0"/>
                </a:lnTo>
                <a:lnTo>
                  <a:pt x="7648858" y="4327014"/>
                </a:lnTo>
                <a:lnTo>
                  <a:pt x="0" y="4327014"/>
                </a:lnTo>
                <a:lnTo>
                  <a:pt x="0" y="0"/>
                </a:lnTo>
                <a:close/>
              </a:path>
            </a:pathLst>
          </a:custGeom>
          <a:blipFill>
            <a:blip r:embed="rId3"/>
            <a:stretch>
              <a:fillRect l="0" t="0" r="0" b="0"/>
            </a:stretch>
          </a:blipFill>
        </p:spPr>
      </p:sp>
      <p:sp>
        <p:nvSpPr>
          <p:cNvPr name="TextBox 7" id="7"/>
          <p:cNvSpPr txBox="true"/>
          <p:nvPr/>
        </p:nvSpPr>
        <p:spPr>
          <a:xfrm rot="0">
            <a:off x="4582883" y="1485366"/>
            <a:ext cx="912223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Sales Anomaly Detection</a:t>
            </a:r>
          </a:p>
        </p:txBody>
      </p:sp>
      <p:sp>
        <p:nvSpPr>
          <p:cNvPr name="TextBox 8" id="8"/>
          <p:cNvSpPr txBox="true"/>
          <p:nvPr/>
        </p:nvSpPr>
        <p:spPr>
          <a:xfrm rot="0">
            <a:off x="11158582" y="2488760"/>
            <a:ext cx="4276000" cy="480399"/>
          </a:xfrm>
          <a:prstGeom prst="rect">
            <a:avLst/>
          </a:prstGeom>
        </p:spPr>
        <p:txBody>
          <a:bodyPr anchor="t" rtlCol="false" tIns="0" lIns="0" bIns="0" rIns="0">
            <a:spAutoFit/>
          </a:bodyPr>
          <a:lstStyle/>
          <a:p>
            <a:pPr algn="ctr"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Interpretation</a:t>
            </a:r>
          </a:p>
        </p:txBody>
      </p:sp>
      <p:sp>
        <p:nvSpPr>
          <p:cNvPr name="TextBox 9" id="9"/>
          <p:cNvSpPr txBox="true"/>
          <p:nvPr/>
        </p:nvSpPr>
        <p:spPr>
          <a:xfrm rot="0">
            <a:off x="11158582" y="6594482"/>
            <a:ext cx="4276000" cy="480399"/>
          </a:xfrm>
          <a:prstGeom prst="rect">
            <a:avLst/>
          </a:prstGeom>
        </p:spPr>
        <p:txBody>
          <a:bodyPr anchor="t" rtlCol="false" tIns="0" lIns="0" bIns="0" rIns="0">
            <a:spAutoFit/>
          </a:bodyPr>
          <a:lstStyle/>
          <a:p>
            <a:pPr algn="ctr"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Conclusion</a:t>
            </a:r>
          </a:p>
        </p:txBody>
      </p:sp>
      <p:sp>
        <p:nvSpPr>
          <p:cNvPr name="TextBox 10" id="10"/>
          <p:cNvSpPr txBox="true"/>
          <p:nvPr/>
        </p:nvSpPr>
        <p:spPr>
          <a:xfrm rot="0">
            <a:off x="9144000" y="7417781"/>
            <a:ext cx="7925435" cy="1043299"/>
          </a:xfrm>
          <a:prstGeom prst="rect">
            <a:avLst/>
          </a:prstGeom>
        </p:spPr>
        <p:txBody>
          <a:bodyPr anchor="t" rtlCol="false" tIns="0" lIns="0" bIns="0" rIns="0">
            <a:spAutoFit/>
          </a:bodyPr>
          <a:lstStyle/>
          <a:p>
            <a:pPr algn="ctr">
              <a:lnSpc>
                <a:spcPts val="2800"/>
              </a:lnSpc>
            </a:pPr>
            <a:r>
              <a:rPr lang="en-US" sz="1866">
                <a:solidFill>
                  <a:srgbClr val="343432"/>
                </a:solidFill>
                <a:latin typeface="Open Sauce"/>
                <a:ea typeface="Open Sauce"/>
                <a:cs typeface="Open Sauce"/>
                <a:sym typeface="Open Sauce"/>
              </a:rPr>
              <a:t>Branch C may require attention to verify if its unusually high sales are justified, and Branch B should investigate the reasons for the unusually low sales in certain transactions.</a:t>
            </a:r>
          </a:p>
        </p:txBody>
      </p:sp>
      <p:grpSp>
        <p:nvGrpSpPr>
          <p:cNvPr name="Group 11" id="11"/>
          <p:cNvGrpSpPr/>
          <p:nvPr/>
        </p:nvGrpSpPr>
        <p:grpSpPr>
          <a:xfrm rot="0">
            <a:off x="0" y="0"/>
            <a:ext cx="18288000" cy="10251030"/>
            <a:chOff x="0" y="0"/>
            <a:chExt cx="4816593" cy="2699860"/>
          </a:xfrm>
        </p:grpSpPr>
        <p:sp>
          <p:nvSpPr>
            <p:cNvPr name="Freeform 12" id="12"/>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13" id="13"/>
            <p:cNvSpPr txBox="true"/>
            <p:nvPr/>
          </p:nvSpPr>
          <p:spPr>
            <a:xfrm>
              <a:off x="0" y="-38100"/>
              <a:ext cx="4816593" cy="2737960"/>
            </a:xfrm>
            <a:prstGeom prst="rect">
              <a:avLst/>
            </a:prstGeom>
          </p:spPr>
          <p:txBody>
            <a:bodyPr anchor="ctr" rtlCol="false" tIns="50800" lIns="50800" bIns="50800" rIns="50800"/>
            <a:lstStyle/>
            <a:p>
              <a:pPr algn="ctr" marL="0" indent="0" lvl="0">
                <a:lnSpc>
                  <a:spcPts val="3035"/>
                </a:lnSpc>
                <a:spcBef>
                  <a:spcPct val="0"/>
                </a:spcBef>
              </a:pPr>
            </a:p>
          </p:txBody>
        </p:sp>
      </p:grpSp>
      <p:sp>
        <p:nvSpPr>
          <p:cNvPr name="TextBox 14" id="14"/>
          <p:cNvSpPr txBox="true"/>
          <p:nvPr/>
        </p:nvSpPr>
        <p:spPr>
          <a:xfrm rot="0">
            <a:off x="9144000" y="3309359"/>
            <a:ext cx="7925435" cy="2805424"/>
          </a:xfrm>
          <a:prstGeom prst="rect">
            <a:avLst/>
          </a:prstGeom>
        </p:spPr>
        <p:txBody>
          <a:bodyPr anchor="t" rtlCol="false" tIns="0" lIns="0" bIns="0" rIns="0">
            <a:spAutoFit/>
          </a:bodyPr>
          <a:lstStyle/>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Branch C</a:t>
            </a:r>
            <a:r>
              <a:rPr lang="en-US" sz="1866">
                <a:solidFill>
                  <a:srgbClr val="343432"/>
                </a:solidFill>
                <a:latin typeface="Open Sauce"/>
                <a:ea typeface="Open Sauce"/>
                <a:cs typeface="Open Sauce"/>
                <a:sym typeface="Open Sauce"/>
              </a:rPr>
              <a:t> has the highest number of high anomaly flags (48), indicating the largest number of transactions with unusually high sales compared to the average.</a:t>
            </a:r>
          </a:p>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Branch B</a:t>
            </a:r>
            <a:r>
              <a:rPr lang="en-US" sz="1866">
                <a:solidFill>
                  <a:srgbClr val="343432"/>
                </a:solidFill>
                <a:latin typeface="Open Sauce"/>
                <a:ea typeface="Open Sauce"/>
                <a:cs typeface="Open Sauce"/>
                <a:sym typeface="Open Sauce"/>
              </a:rPr>
              <a:t> has the most low anomaly flags (114), suggesting a higher number of transactions with unusually low sales.</a:t>
            </a:r>
          </a:p>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Branch A</a:t>
            </a:r>
            <a:r>
              <a:rPr lang="en-US" sz="1866">
                <a:solidFill>
                  <a:srgbClr val="343432"/>
                </a:solidFill>
                <a:latin typeface="Open Sauce"/>
                <a:ea typeface="Open Sauce"/>
                <a:cs typeface="Open Sauce"/>
                <a:sym typeface="Open Sauce"/>
              </a:rPr>
              <a:t> has the highest number of normal transactions (192), indicating the largest number of transactions that fall within the expected sales range.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10154320" y="2013259"/>
            <a:ext cx="5017222" cy="6260482"/>
          </a:xfrm>
          <a:custGeom>
            <a:avLst/>
            <a:gdLst/>
            <a:ahLst/>
            <a:cxnLst/>
            <a:rect r="r" b="b" t="t" l="l"/>
            <a:pathLst>
              <a:path h="6260482" w="5017222">
                <a:moveTo>
                  <a:pt x="0" y="0"/>
                </a:moveTo>
                <a:lnTo>
                  <a:pt x="5017222" y="0"/>
                </a:lnTo>
                <a:lnTo>
                  <a:pt x="5017222" y="6260482"/>
                </a:lnTo>
                <a:lnTo>
                  <a:pt x="0" y="6260482"/>
                </a:lnTo>
                <a:lnTo>
                  <a:pt x="0" y="0"/>
                </a:lnTo>
                <a:close/>
              </a:path>
            </a:pathLst>
          </a:custGeom>
          <a:blipFill>
            <a:blip r:embed="rId2"/>
            <a:stretch>
              <a:fillRect l="0" t="-315" r="-264760" b="-315"/>
            </a:stretch>
          </a:blipFill>
        </p:spPr>
      </p:sp>
      <p:sp>
        <p:nvSpPr>
          <p:cNvPr name="Freeform 12" id="12"/>
          <p:cNvSpPr/>
          <p:nvPr/>
        </p:nvSpPr>
        <p:spPr>
          <a:xfrm flipH="false" flipV="false" rot="0">
            <a:off x="1936838" y="3764034"/>
            <a:ext cx="7644895" cy="2758933"/>
          </a:xfrm>
          <a:custGeom>
            <a:avLst/>
            <a:gdLst/>
            <a:ahLst/>
            <a:cxnLst/>
            <a:rect r="r" b="b" t="t" l="l"/>
            <a:pathLst>
              <a:path h="2758933" w="7644895">
                <a:moveTo>
                  <a:pt x="0" y="0"/>
                </a:moveTo>
                <a:lnTo>
                  <a:pt x="7644895" y="0"/>
                </a:lnTo>
                <a:lnTo>
                  <a:pt x="7644895" y="2758932"/>
                </a:lnTo>
                <a:lnTo>
                  <a:pt x="0" y="2758932"/>
                </a:lnTo>
                <a:lnTo>
                  <a:pt x="0" y="0"/>
                </a:lnTo>
                <a:close/>
              </a:path>
            </a:pathLst>
          </a:custGeom>
          <a:blipFill>
            <a:blip r:embed="rId3"/>
            <a:stretch>
              <a:fillRect l="0" t="0" r="-206608"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4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32780" y="163336"/>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4894812" y="2767549"/>
            <a:ext cx="8498377" cy="5042605"/>
          </a:xfrm>
          <a:custGeom>
            <a:avLst/>
            <a:gdLst/>
            <a:ahLst/>
            <a:cxnLst/>
            <a:rect r="r" b="b" t="t" l="l"/>
            <a:pathLst>
              <a:path h="5042605" w="8498377">
                <a:moveTo>
                  <a:pt x="0" y="0"/>
                </a:moveTo>
                <a:lnTo>
                  <a:pt x="8498376" y="0"/>
                </a:lnTo>
                <a:lnTo>
                  <a:pt x="8498376" y="5042605"/>
                </a:lnTo>
                <a:lnTo>
                  <a:pt x="0" y="5042605"/>
                </a:lnTo>
                <a:lnTo>
                  <a:pt x="0" y="0"/>
                </a:lnTo>
                <a:close/>
              </a:path>
            </a:pathLst>
          </a:custGeom>
          <a:blipFill>
            <a:blip r:embed="rId3"/>
            <a:stretch>
              <a:fillRect l="0" t="0" r="0" b="0"/>
            </a:stretch>
          </a:blipFill>
        </p:spPr>
      </p:sp>
      <p:sp>
        <p:nvSpPr>
          <p:cNvPr name="TextBox 7" id="7"/>
          <p:cNvSpPr txBox="true"/>
          <p:nvPr/>
        </p:nvSpPr>
        <p:spPr>
          <a:xfrm rot="0">
            <a:off x="5106477" y="1873357"/>
            <a:ext cx="8075046"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Popular Payment Method by City</a:t>
            </a:r>
          </a:p>
        </p:txBody>
      </p:sp>
      <p:sp>
        <p:nvSpPr>
          <p:cNvPr name="TextBox 8" id="8"/>
          <p:cNvSpPr txBox="true"/>
          <p:nvPr/>
        </p:nvSpPr>
        <p:spPr>
          <a:xfrm rot="0">
            <a:off x="3294447" y="8234218"/>
            <a:ext cx="181203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Analysis</a:t>
            </a:r>
          </a:p>
        </p:txBody>
      </p:sp>
      <p:sp>
        <p:nvSpPr>
          <p:cNvPr name="TextBox 9" id="9"/>
          <p:cNvSpPr txBox="true"/>
          <p:nvPr/>
        </p:nvSpPr>
        <p:spPr>
          <a:xfrm rot="0">
            <a:off x="5381168" y="8234218"/>
            <a:ext cx="9288851" cy="1024082"/>
          </a:xfrm>
          <a:prstGeom prst="rect">
            <a:avLst/>
          </a:prstGeom>
        </p:spPr>
        <p:txBody>
          <a:bodyPr anchor="t" rtlCol="false" tIns="0" lIns="0" bIns="0" rIns="0">
            <a:spAutoFit/>
          </a:bodyPr>
          <a:lstStyle/>
          <a:p>
            <a:pPr algn="l" marL="403045" indent="-201523" lvl="1">
              <a:lnSpc>
                <a:spcPts val="2800"/>
              </a:lnSpc>
              <a:buFont typeface="Arial"/>
              <a:buChar char="•"/>
            </a:pPr>
            <a:r>
              <a:rPr lang="en-US" sz="1866">
                <a:solidFill>
                  <a:srgbClr val="343432"/>
                </a:solidFill>
                <a:latin typeface="Open Sauce"/>
                <a:ea typeface="Open Sauce"/>
                <a:cs typeface="Open Sauce"/>
                <a:sym typeface="Open Sauce"/>
              </a:rPr>
              <a:t>Yangon and Mandalay prefer Ewallet as the most popular payment method.</a:t>
            </a:r>
          </a:p>
          <a:p>
            <a:pPr algn="l" marL="403045" indent="-201523" lvl="1">
              <a:lnSpc>
                <a:spcPts val="2800"/>
              </a:lnSpc>
              <a:buFont typeface="Arial"/>
              <a:buChar char="•"/>
            </a:pPr>
            <a:r>
              <a:rPr lang="en-US" sz="1866">
                <a:solidFill>
                  <a:srgbClr val="343432"/>
                </a:solidFill>
                <a:latin typeface="Open Sauce"/>
                <a:ea typeface="Open Sauce"/>
                <a:cs typeface="Open Sauce"/>
                <a:sym typeface="Open Sauce"/>
              </a:rPr>
              <a:t>Naypyitaw prefers Cash as the most popular payment method.</a:t>
            </a:r>
          </a:p>
          <a:p>
            <a:pPr algn="l" marL="0" indent="0" lvl="0">
              <a:lnSpc>
                <a:spcPts val="280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5319928" y="5028073"/>
            <a:ext cx="7648145" cy="2979173"/>
          </a:xfrm>
          <a:custGeom>
            <a:avLst/>
            <a:gdLst/>
            <a:ahLst/>
            <a:cxnLst/>
            <a:rect r="r" b="b" t="t" l="l"/>
            <a:pathLst>
              <a:path h="2979173" w="7648145">
                <a:moveTo>
                  <a:pt x="0" y="0"/>
                </a:moveTo>
                <a:lnTo>
                  <a:pt x="7648144" y="0"/>
                </a:lnTo>
                <a:lnTo>
                  <a:pt x="7648144" y="2979173"/>
                </a:lnTo>
                <a:lnTo>
                  <a:pt x="0" y="2979173"/>
                </a:lnTo>
                <a:lnTo>
                  <a:pt x="0" y="0"/>
                </a:lnTo>
                <a:close/>
              </a:path>
            </a:pathLst>
          </a:custGeom>
          <a:blipFill>
            <a:blip r:embed="rId2"/>
            <a:stretch>
              <a:fillRect l="0" t="0" r="-664048" b="0"/>
            </a:stretch>
          </a:blipFill>
        </p:spPr>
      </p:sp>
      <p:sp>
        <p:nvSpPr>
          <p:cNvPr name="Freeform 12" id="12"/>
          <p:cNvSpPr/>
          <p:nvPr/>
        </p:nvSpPr>
        <p:spPr>
          <a:xfrm flipH="false" flipV="false" rot="0">
            <a:off x="2848943" y="2100713"/>
            <a:ext cx="12590113" cy="2272518"/>
          </a:xfrm>
          <a:custGeom>
            <a:avLst/>
            <a:gdLst/>
            <a:ahLst/>
            <a:cxnLst/>
            <a:rect r="r" b="b" t="t" l="l"/>
            <a:pathLst>
              <a:path h="2272518" w="12590113">
                <a:moveTo>
                  <a:pt x="0" y="0"/>
                </a:moveTo>
                <a:lnTo>
                  <a:pt x="12590114" y="0"/>
                </a:lnTo>
                <a:lnTo>
                  <a:pt x="12590114" y="2272518"/>
                </a:lnTo>
                <a:lnTo>
                  <a:pt x="0" y="2272518"/>
                </a:lnTo>
                <a:lnTo>
                  <a:pt x="0" y="0"/>
                </a:lnTo>
                <a:close/>
              </a:path>
            </a:pathLst>
          </a:custGeom>
          <a:blipFill>
            <a:blip r:embed="rId3"/>
            <a:stretch>
              <a:fillRect l="0" t="0" r="-177692"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5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399"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3964520" y="3140646"/>
            <a:ext cx="10173227" cy="4005708"/>
          </a:xfrm>
          <a:custGeom>
            <a:avLst/>
            <a:gdLst/>
            <a:ahLst/>
            <a:cxnLst/>
            <a:rect r="r" b="b" t="t" l="l"/>
            <a:pathLst>
              <a:path h="4005708" w="10173227">
                <a:moveTo>
                  <a:pt x="0" y="0"/>
                </a:moveTo>
                <a:lnTo>
                  <a:pt x="10173228" y="0"/>
                </a:lnTo>
                <a:lnTo>
                  <a:pt x="10173228" y="4005708"/>
                </a:lnTo>
                <a:lnTo>
                  <a:pt x="0" y="4005708"/>
                </a:lnTo>
                <a:lnTo>
                  <a:pt x="0" y="0"/>
                </a:lnTo>
                <a:close/>
              </a:path>
            </a:pathLst>
          </a:custGeom>
          <a:blipFill>
            <a:blip r:embed="rId3"/>
            <a:stretch>
              <a:fillRect l="0" t="0" r="0" b="0"/>
            </a:stretch>
          </a:blipFill>
        </p:spPr>
      </p:sp>
      <p:sp>
        <p:nvSpPr>
          <p:cNvPr name="TextBox 7" id="7"/>
          <p:cNvSpPr txBox="true"/>
          <p:nvPr/>
        </p:nvSpPr>
        <p:spPr>
          <a:xfrm rot="0">
            <a:off x="1028700" y="1842558"/>
            <a:ext cx="16230600"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Monthly Sales Distribution by Gender</a:t>
            </a:r>
          </a:p>
        </p:txBody>
      </p:sp>
      <p:sp>
        <p:nvSpPr>
          <p:cNvPr name="TextBox 8" id="8"/>
          <p:cNvSpPr txBox="true"/>
          <p:nvPr/>
        </p:nvSpPr>
        <p:spPr>
          <a:xfrm rot="0">
            <a:off x="843225" y="3747560"/>
            <a:ext cx="2597421" cy="405765"/>
          </a:xfrm>
          <a:prstGeom prst="rect">
            <a:avLst/>
          </a:prstGeom>
        </p:spPr>
        <p:txBody>
          <a:bodyPr anchor="t" rtlCol="false" tIns="0" lIns="0" bIns="0" rIns="0">
            <a:spAutoFit/>
          </a:bodyPr>
          <a:lstStyle/>
          <a:p>
            <a:pPr algn="ctr" marL="0" indent="0" lvl="0">
              <a:lnSpc>
                <a:spcPts val="3359"/>
              </a:lnSpc>
              <a:spcBef>
                <a:spcPct val="0"/>
              </a:spcBef>
            </a:pPr>
            <a:r>
              <a:rPr lang="en-US" b="true" sz="2400" spc="-48">
                <a:solidFill>
                  <a:srgbClr val="007DC6"/>
                </a:solidFill>
                <a:latin typeface="Open Sauce Bold"/>
                <a:ea typeface="Open Sauce Bold"/>
                <a:cs typeface="Open Sauce Bold"/>
                <a:sym typeface="Open Sauce Bold"/>
              </a:rPr>
              <a:t>Highest Sales</a:t>
            </a:r>
          </a:p>
        </p:txBody>
      </p:sp>
      <p:sp>
        <p:nvSpPr>
          <p:cNvPr name="TextBox 9" id="9"/>
          <p:cNvSpPr txBox="true"/>
          <p:nvPr/>
        </p:nvSpPr>
        <p:spPr>
          <a:xfrm rot="0">
            <a:off x="471956" y="4486302"/>
            <a:ext cx="3492565" cy="2100574"/>
          </a:xfrm>
          <a:prstGeom prst="rect">
            <a:avLst/>
          </a:prstGeom>
        </p:spPr>
        <p:txBody>
          <a:bodyPr anchor="t" rtlCol="false" tIns="0" lIns="0" bIns="0" rIns="0">
            <a:spAutoFit/>
          </a:bodyPr>
          <a:lstStyle/>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Female Sales</a:t>
            </a:r>
            <a:r>
              <a:rPr lang="en-US" sz="1866">
                <a:solidFill>
                  <a:srgbClr val="343432"/>
                </a:solidFill>
                <a:latin typeface="Open Sauce"/>
                <a:ea typeface="Open Sauce"/>
                <a:cs typeface="Open Sauce"/>
                <a:sym typeface="Open Sauce"/>
              </a:rPr>
              <a:t>: The highest female sales occurred in January with $43,624.80.</a:t>
            </a:r>
          </a:p>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Male Sales</a:t>
            </a:r>
            <a:r>
              <a:rPr lang="en-US" sz="1866">
                <a:solidFill>
                  <a:srgbClr val="343432"/>
                </a:solidFill>
                <a:latin typeface="Open Sauce"/>
                <a:ea typeface="Open Sauce"/>
                <a:cs typeface="Open Sauce"/>
                <a:sym typeface="Open Sauce"/>
              </a:rPr>
              <a:t>: The highest male sales occurred in March with $42,245.50.</a:t>
            </a:r>
          </a:p>
        </p:txBody>
      </p:sp>
      <p:sp>
        <p:nvSpPr>
          <p:cNvPr name="TextBox 10" id="10"/>
          <p:cNvSpPr txBox="true"/>
          <p:nvPr/>
        </p:nvSpPr>
        <p:spPr>
          <a:xfrm rot="0">
            <a:off x="14660011" y="3747560"/>
            <a:ext cx="2599289" cy="405765"/>
          </a:xfrm>
          <a:prstGeom prst="rect">
            <a:avLst/>
          </a:prstGeom>
        </p:spPr>
        <p:txBody>
          <a:bodyPr anchor="t" rtlCol="false" tIns="0" lIns="0" bIns="0" rIns="0">
            <a:spAutoFit/>
          </a:bodyPr>
          <a:lstStyle/>
          <a:p>
            <a:pPr algn="ctr" marL="0" indent="0" lvl="0">
              <a:lnSpc>
                <a:spcPts val="3359"/>
              </a:lnSpc>
              <a:spcBef>
                <a:spcPct val="0"/>
              </a:spcBef>
            </a:pPr>
            <a:r>
              <a:rPr lang="en-US" b="true" sz="2399" spc="-47">
                <a:solidFill>
                  <a:srgbClr val="007DC6"/>
                </a:solidFill>
                <a:latin typeface="Open Sauce Bold"/>
                <a:ea typeface="Open Sauce Bold"/>
                <a:cs typeface="Open Sauce Bold"/>
                <a:sym typeface="Open Sauce Bold"/>
              </a:rPr>
              <a:t>Lowest Sales</a:t>
            </a:r>
          </a:p>
        </p:txBody>
      </p:sp>
      <p:sp>
        <p:nvSpPr>
          <p:cNvPr name="TextBox 11" id="11"/>
          <p:cNvSpPr txBox="true"/>
          <p:nvPr/>
        </p:nvSpPr>
        <p:spPr>
          <a:xfrm rot="0">
            <a:off x="14137748" y="4486302"/>
            <a:ext cx="3523364" cy="2100574"/>
          </a:xfrm>
          <a:prstGeom prst="rect">
            <a:avLst/>
          </a:prstGeom>
        </p:spPr>
        <p:txBody>
          <a:bodyPr anchor="t" rtlCol="false" tIns="0" lIns="0" bIns="0" rIns="0">
            <a:spAutoFit/>
          </a:bodyPr>
          <a:lstStyle/>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Female Sales</a:t>
            </a:r>
            <a:r>
              <a:rPr lang="en-US" sz="1866">
                <a:solidFill>
                  <a:srgbClr val="343432"/>
                </a:solidFill>
                <a:latin typeface="Open Sauce"/>
                <a:ea typeface="Open Sauce"/>
                <a:cs typeface="Open Sauce"/>
                <a:sym typeface="Open Sauce"/>
              </a:rPr>
              <a:t>: The lowest female sales occurred in June with $3,290.30.</a:t>
            </a:r>
          </a:p>
          <a:p>
            <a:pPr algn="l" marL="403046" indent="-201523" lvl="1">
              <a:lnSpc>
                <a:spcPts val="2800"/>
              </a:lnSpc>
              <a:buFont typeface="Arial"/>
              <a:buChar char="•"/>
            </a:pPr>
            <a:r>
              <a:rPr lang="en-US" b="true" sz="1866">
                <a:solidFill>
                  <a:srgbClr val="343432"/>
                </a:solidFill>
                <a:latin typeface="Open Sauce Bold"/>
                <a:ea typeface="Open Sauce Bold"/>
                <a:cs typeface="Open Sauce Bold"/>
                <a:sym typeface="Open Sauce Bold"/>
              </a:rPr>
              <a:t>Male Sales</a:t>
            </a:r>
            <a:r>
              <a:rPr lang="en-US" sz="1866">
                <a:solidFill>
                  <a:srgbClr val="343432"/>
                </a:solidFill>
                <a:latin typeface="Open Sauce"/>
                <a:ea typeface="Open Sauce"/>
                <a:cs typeface="Open Sauce"/>
                <a:sym typeface="Open Sauce"/>
              </a:rPr>
              <a:t>: The lowest male sales occurred in April with $2,466.60.</a:t>
            </a:r>
          </a:p>
        </p:txBody>
      </p:sp>
      <p:sp>
        <p:nvSpPr>
          <p:cNvPr name="TextBox 12" id="12"/>
          <p:cNvSpPr txBox="true"/>
          <p:nvPr/>
        </p:nvSpPr>
        <p:spPr>
          <a:xfrm rot="0">
            <a:off x="6682604" y="7453682"/>
            <a:ext cx="4276000" cy="405765"/>
          </a:xfrm>
          <a:prstGeom prst="rect">
            <a:avLst/>
          </a:prstGeom>
        </p:spPr>
        <p:txBody>
          <a:bodyPr anchor="t" rtlCol="false" tIns="0" lIns="0" bIns="0" rIns="0">
            <a:spAutoFit/>
          </a:bodyPr>
          <a:lstStyle/>
          <a:p>
            <a:pPr algn="ctr" marL="0" indent="0" lvl="0">
              <a:lnSpc>
                <a:spcPts val="3359"/>
              </a:lnSpc>
              <a:spcBef>
                <a:spcPct val="0"/>
              </a:spcBef>
            </a:pPr>
            <a:r>
              <a:rPr lang="en-US" b="true" sz="2400" spc="-48">
                <a:solidFill>
                  <a:srgbClr val="007DC6"/>
                </a:solidFill>
                <a:latin typeface="Open Sauce Bold"/>
                <a:ea typeface="Open Sauce Bold"/>
                <a:cs typeface="Open Sauce Bold"/>
                <a:sym typeface="Open Sauce Bold"/>
              </a:rPr>
              <a:t>Conclusion</a:t>
            </a:r>
          </a:p>
        </p:txBody>
      </p:sp>
      <p:sp>
        <p:nvSpPr>
          <p:cNvPr name="TextBox 13" id="13"/>
          <p:cNvSpPr txBox="true"/>
          <p:nvPr/>
        </p:nvSpPr>
        <p:spPr>
          <a:xfrm rot="0">
            <a:off x="1440437" y="7920634"/>
            <a:ext cx="15818863" cy="690874"/>
          </a:xfrm>
          <a:prstGeom prst="rect">
            <a:avLst/>
          </a:prstGeom>
        </p:spPr>
        <p:txBody>
          <a:bodyPr anchor="t" rtlCol="false" tIns="0" lIns="0" bIns="0" rIns="0">
            <a:spAutoFit/>
          </a:bodyPr>
          <a:lstStyle/>
          <a:p>
            <a:pPr algn="ctr">
              <a:lnSpc>
                <a:spcPts val="2800"/>
              </a:lnSpc>
            </a:pPr>
            <a:r>
              <a:rPr lang="en-US" sz="1866">
                <a:solidFill>
                  <a:srgbClr val="343432"/>
                </a:solidFill>
                <a:latin typeface="Open Sauce"/>
                <a:ea typeface="Open Sauce"/>
                <a:cs typeface="Open Sauce"/>
                <a:sym typeface="Open Sauce"/>
              </a:rPr>
              <a:t>January shows the highest overall sales, primarily driven by female customers.</a:t>
            </a:r>
          </a:p>
          <a:p>
            <a:pPr algn="ctr">
              <a:lnSpc>
                <a:spcPts val="2800"/>
              </a:lnSpc>
            </a:pPr>
            <a:r>
              <a:rPr lang="en-US" sz="1866">
                <a:solidFill>
                  <a:srgbClr val="343432"/>
                </a:solidFill>
                <a:latin typeface="Open Sauce"/>
                <a:ea typeface="Open Sauce"/>
                <a:cs typeface="Open Sauce"/>
                <a:sym typeface="Open Sauce"/>
              </a:rPr>
              <a:t>Male sales peak in March and December, while female sales peak in January.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5374889" y="3382168"/>
            <a:ext cx="7538223" cy="5720460"/>
          </a:xfrm>
          <a:custGeom>
            <a:avLst/>
            <a:gdLst/>
            <a:ahLst/>
            <a:cxnLst/>
            <a:rect r="r" b="b" t="t" l="l"/>
            <a:pathLst>
              <a:path h="5720460" w="7538223">
                <a:moveTo>
                  <a:pt x="0" y="0"/>
                </a:moveTo>
                <a:lnTo>
                  <a:pt x="7538222" y="0"/>
                </a:lnTo>
                <a:lnTo>
                  <a:pt x="7538222" y="5720460"/>
                </a:lnTo>
                <a:lnTo>
                  <a:pt x="0" y="5720460"/>
                </a:lnTo>
                <a:lnTo>
                  <a:pt x="0" y="0"/>
                </a:lnTo>
                <a:close/>
              </a:path>
            </a:pathLst>
          </a:custGeom>
          <a:blipFill>
            <a:blip r:embed="rId2"/>
            <a:stretch>
              <a:fillRect l="0" t="0" r="-248749" b="0"/>
            </a:stretch>
          </a:blipFill>
        </p:spPr>
      </p:sp>
      <p:sp>
        <p:nvSpPr>
          <p:cNvPr name="Freeform 12" id="12"/>
          <p:cNvSpPr/>
          <p:nvPr/>
        </p:nvSpPr>
        <p:spPr>
          <a:xfrm flipH="false" flipV="false" rot="0">
            <a:off x="1709073" y="1982812"/>
            <a:ext cx="14683824" cy="1399356"/>
          </a:xfrm>
          <a:custGeom>
            <a:avLst/>
            <a:gdLst/>
            <a:ahLst/>
            <a:cxnLst/>
            <a:rect r="r" b="b" t="t" l="l"/>
            <a:pathLst>
              <a:path h="1399356" w="14683824">
                <a:moveTo>
                  <a:pt x="0" y="0"/>
                </a:moveTo>
                <a:lnTo>
                  <a:pt x="14683824" y="0"/>
                </a:lnTo>
                <a:lnTo>
                  <a:pt x="14683824" y="1399356"/>
                </a:lnTo>
                <a:lnTo>
                  <a:pt x="0" y="1399356"/>
                </a:lnTo>
                <a:lnTo>
                  <a:pt x="0" y="0"/>
                </a:lnTo>
                <a:close/>
              </a:path>
            </a:pathLst>
          </a:custGeom>
          <a:blipFill>
            <a:blip r:embed="rId3"/>
            <a:stretch>
              <a:fillRect l="0" t="0" r="-86053"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6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57150"/>
              <a:ext cx="4816593" cy="2757010"/>
            </a:xfrm>
            <a:prstGeom prst="rect">
              <a:avLst/>
            </a:prstGeom>
          </p:spPr>
          <p:txBody>
            <a:bodyPr anchor="ctr" rtlCol="false" tIns="50800" lIns="50800" bIns="50800" rIns="50800"/>
            <a:lstStyle/>
            <a:p>
              <a:pPr algn="l" marL="0" indent="0" lvl="0">
                <a:lnSpc>
                  <a:spcPts val="2800"/>
                </a:lnSpc>
                <a:spcBef>
                  <a:spcPct val="0"/>
                </a:spcBef>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8491414" y="3191552"/>
            <a:ext cx="9049152" cy="5439118"/>
          </a:xfrm>
          <a:custGeom>
            <a:avLst/>
            <a:gdLst/>
            <a:ahLst/>
            <a:cxnLst/>
            <a:rect r="r" b="b" t="t" l="l"/>
            <a:pathLst>
              <a:path h="5439118" w="9049152">
                <a:moveTo>
                  <a:pt x="0" y="0"/>
                </a:moveTo>
                <a:lnTo>
                  <a:pt x="9049152" y="0"/>
                </a:lnTo>
                <a:lnTo>
                  <a:pt x="9049152" y="5439118"/>
                </a:lnTo>
                <a:lnTo>
                  <a:pt x="0" y="5439118"/>
                </a:lnTo>
                <a:lnTo>
                  <a:pt x="0" y="0"/>
                </a:lnTo>
                <a:close/>
              </a:path>
            </a:pathLst>
          </a:custGeom>
          <a:blipFill>
            <a:blip r:embed="rId3"/>
            <a:stretch>
              <a:fillRect l="0" t="0" r="0" b="0"/>
            </a:stretch>
          </a:blipFill>
        </p:spPr>
      </p:sp>
      <p:sp>
        <p:nvSpPr>
          <p:cNvPr name="TextBox 7" id="7"/>
          <p:cNvSpPr txBox="true"/>
          <p:nvPr/>
        </p:nvSpPr>
        <p:spPr>
          <a:xfrm rot="0">
            <a:off x="4644482" y="1750159"/>
            <a:ext cx="8999035"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Best Product Line by Customer Type</a:t>
            </a:r>
          </a:p>
        </p:txBody>
      </p:sp>
      <p:sp>
        <p:nvSpPr>
          <p:cNvPr name="TextBox 8" id="8"/>
          <p:cNvSpPr txBox="true"/>
          <p:nvPr/>
        </p:nvSpPr>
        <p:spPr>
          <a:xfrm rot="0">
            <a:off x="1440437" y="2705507"/>
            <a:ext cx="427600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Analysis</a:t>
            </a:r>
          </a:p>
        </p:txBody>
      </p:sp>
      <p:sp>
        <p:nvSpPr>
          <p:cNvPr name="TextBox 9" id="9"/>
          <p:cNvSpPr txBox="true"/>
          <p:nvPr/>
        </p:nvSpPr>
        <p:spPr>
          <a:xfrm rot="0">
            <a:off x="1440437" y="3396158"/>
            <a:ext cx="6811734" cy="3157849"/>
          </a:xfrm>
          <a:prstGeom prst="rect">
            <a:avLst/>
          </a:prstGeom>
        </p:spPr>
        <p:txBody>
          <a:bodyPr anchor="t" rtlCol="false" tIns="0" lIns="0" bIns="0" rIns="0">
            <a:spAutoFit/>
          </a:bodyPr>
          <a:lstStyle/>
          <a:p>
            <a:pPr algn="l">
              <a:lnSpc>
                <a:spcPts val="2800"/>
              </a:lnSpc>
            </a:pPr>
            <a:r>
              <a:rPr lang="en-US" sz="1866" b="true">
                <a:solidFill>
                  <a:srgbClr val="343432"/>
                </a:solidFill>
                <a:latin typeface="Open Sauce Bold"/>
                <a:ea typeface="Open Sauce Bold"/>
                <a:cs typeface="Open Sauce Bold"/>
                <a:sym typeface="Open Sauce Bold"/>
              </a:rPr>
              <a:t>Highest Sales by Product Line for Normal Customers:</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Electronic accessories: $29,839.1</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Fashion accessories: $27,982</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Food and beverages: $24,787.2</a:t>
            </a:r>
          </a:p>
          <a:p>
            <a:pPr algn="l">
              <a:lnSpc>
                <a:spcPts val="2800"/>
              </a:lnSpc>
            </a:pPr>
          </a:p>
          <a:p>
            <a:pPr algn="l">
              <a:lnSpc>
                <a:spcPts val="2800"/>
              </a:lnSpc>
            </a:pPr>
            <a:r>
              <a:rPr lang="en-US" sz="1866" b="true">
                <a:solidFill>
                  <a:srgbClr val="343432"/>
                </a:solidFill>
                <a:latin typeface="Open Sauce Bold"/>
                <a:ea typeface="Open Sauce Bold"/>
                <a:cs typeface="Open Sauce Bold"/>
                <a:sym typeface="Open Sauce Bold"/>
              </a:rPr>
              <a:t>Highest Sales by Product Line for Member Customers:</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Food and beverages: $31,357.7</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Sports and travel: $28,234.4</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Electronic accessories: $24,498.5</a:t>
            </a:r>
          </a:p>
        </p:txBody>
      </p:sp>
      <p:sp>
        <p:nvSpPr>
          <p:cNvPr name="TextBox 10" id="10"/>
          <p:cNvSpPr txBox="true"/>
          <p:nvPr/>
        </p:nvSpPr>
        <p:spPr>
          <a:xfrm rot="0">
            <a:off x="1440437" y="6802387"/>
            <a:ext cx="427600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Conclusion</a:t>
            </a:r>
          </a:p>
        </p:txBody>
      </p:sp>
      <p:sp>
        <p:nvSpPr>
          <p:cNvPr name="TextBox 11" id="11"/>
          <p:cNvSpPr txBox="true"/>
          <p:nvPr/>
        </p:nvSpPr>
        <p:spPr>
          <a:xfrm rot="0">
            <a:off x="1440437" y="7536812"/>
            <a:ext cx="6609283" cy="1748149"/>
          </a:xfrm>
          <a:prstGeom prst="rect">
            <a:avLst/>
          </a:prstGeom>
        </p:spPr>
        <p:txBody>
          <a:bodyPr anchor="t" rtlCol="false" tIns="0" lIns="0" bIns="0" rIns="0">
            <a:spAutoFit/>
          </a:bodyPr>
          <a:lstStyle/>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For Normal customers, Electronic accessories is the top-performing product line with $29,839.1 in sales.</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For Member customers, Food and beverages is the most popular product line with $31,357.7 in sales.</a:t>
            </a:r>
          </a:p>
          <a:p>
            <a:pPr algn="l" marL="0" indent="0" lvl="0">
              <a:lnSpc>
                <a:spcPts val="280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4090081" y="3837244"/>
            <a:ext cx="10107838" cy="5080332"/>
          </a:xfrm>
          <a:custGeom>
            <a:avLst/>
            <a:gdLst/>
            <a:ahLst/>
            <a:cxnLst/>
            <a:rect r="r" b="b" t="t" l="l"/>
            <a:pathLst>
              <a:path h="5080332" w="10107838">
                <a:moveTo>
                  <a:pt x="0" y="0"/>
                </a:moveTo>
                <a:lnTo>
                  <a:pt x="10107838" y="0"/>
                </a:lnTo>
                <a:lnTo>
                  <a:pt x="10107838" y="5080332"/>
                </a:lnTo>
                <a:lnTo>
                  <a:pt x="0" y="5080332"/>
                </a:lnTo>
                <a:lnTo>
                  <a:pt x="0" y="0"/>
                </a:lnTo>
                <a:close/>
              </a:path>
            </a:pathLst>
          </a:custGeom>
          <a:blipFill>
            <a:blip r:embed="rId2"/>
            <a:stretch>
              <a:fillRect l="0" t="0" r="-293102" b="0"/>
            </a:stretch>
          </a:blipFill>
        </p:spPr>
      </p:sp>
      <p:sp>
        <p:nvSpPr>
          <p:cNvPr name="Freeform 12" id="12"/>
          <p:cNvSpPr/>
          <p:nvPr/>
        </p:nvSpPr>
        <p:spPr>
          <a:xfrm flipH="false" flipV="false" rot="0">
            <a:off x="2098819" y="2581195"/>
            <a:ext cx="14090363" cy="1133625"/>
          </a:xfrm>
          <a:custGeom>
            <a:avLst/>
            <a:gdLst/>
            <a:ahLst/>
            <a:cxnLst/>
            <a:rect r="r" b="b" t="t" l="l"/>
            <a:pathLst>
              <a:path h="1133625" w="14090363">
                <a:moveTo>
                  <a:pt x="0" y="0"/>
                </a:moveTo>
                <a:lnTo>
                  <a:pt x="14090362" y="0"/>
                </a:lnTo>
                <a:lnTo>
                  <a:pt x="14090362" y="1133626"/>
                </a:lnTo>
                <a:lnTo>
                  <a:pt x="0" y="1133626"/>
                </a:lnTo>
                <a:lnTo>
                  <a:pt x="0" y="0"/>
                </a:lnTo>
                <a:close/>
              </a:path>
            </a:pathLst>
          </a:custGeom>
          <a:blipFill>
            <a:blip r:embed="rId3"/>
            <a:stretch>
              <a:fillRect l="0" t="0" r="-49301"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7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9473205" y="2886823"/>
            <a:ext cx="7416637" cy="5405001"/>
          </a:xfrm>
          <a:custGeom>
            <a:avLst/>
            <a:gdLst/>
            <a:ahLst/>
            <a:cxnLst/>
            <a:rect r="r" b="b" t="t" l="l"/>
            <a:pathLst>
              <a:path h="5405001" w="7416637">
                <a:moveTo>
                  <a:pt x="0" y="0"/>
                </a:moveTo>
                <a:lnTo>
                  <a:pt x="7416637" y="0"/>
                </a:lnTo>
                <a:lnTo>
                  <a:pt x="7416637" y="5405001"/>
                </a:lnTo>
                <a:lnTo>
                  <a:pt x="0" y="5405001"/>
                </a:lnTo>
                <a:lnTo>
                  <a:pt x="0" y="0"/>
                </a:lnTo>
                <a:close/>
              </a:path>
            </a:pathLst>
          </a:custGeom>
          <a:blipFill>
            <a:blip r:embed="rId3"/>
            <a:stretch>
              <a:fillRect l="0" t="0" r="0" b="0"/>
            </a:stretch>
          </a:blipFill>
        </p:spPr>
      </p:sp>
      <p:sp>
        <p:nvSpPr>
          <p:cNvPr name="TextBox 7" id="7"/>
          <p:cNvSpPr txBox="true"/>
          <p:nvPr/>
        </p:nvSpPr>
        <p:spPr>
          <a:xfrm rot="0">
            <a:off x="5106477" y="1873357"/>
            <a:ext cx="8075046"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Repeat Customer Identification</a:t>
            </a:r>
          </a:p>
        </p:txBody>
      </p:sp>
      <p:sp>
        <p:nvSpPr>
          <p:cNvPr name="TextBox 8" id="8"/>
          <p:cNvSpPr txBox="true"/>
          <p:nvPr/>
        </p:nvSpPr>
        <p:spPr>
          <a:xfrm rot="0">
            <a:off x="1440437" y="2948018"/>
            <a:ext cx="1812030"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Analysis</a:t>
            </a:r>
          </a:p>
        </p:txBody>
      </p:sp>
      <p:sp>
        <p:nvSpPr>
          <p:cNvPr name="TextBox 9" id="9"/>
          <p:cNvSpPr txBox="true"/>
          <p:nvPr/>
        </p:nvSpPr>
        <p:spPr>
          <a:xfrm rot="0">
            <a:off x="1440437" y="3747776"/>
            <a:ext cx="6881943" cy="1395724"/>
          </a:xfrm>
          <a:prstGeom prst="rect">
            <a:avLst/>
          </a:prstGeom>
        </p:spPr>
        <p:txBody>
          <a:bodyPr anchor="t" rtlCol="false" tIns="0" lIns="0" bIns="0" rIns="0">
            <a:spAutoFit/>
          </a:bodyPr>
          <a:lstStyle/>
          <a:p>
            <a:pPr algn="l">
              <a:lnSpc>
                <a:spcPts val="2800"/>
              </a:lnSpc>
            </a:pPr>
            <a:r>
              <a:rPr lang="en-US" sz="1866">
                <a:solidFill>
                  <a:srgbClr val="343432"/>
                </a:solidFill>
                <a:latin typeface="Open Sauce"/>
                <a:ea typeface="Open Sauce"/>
                <a:cs typeface="Open Sauce"/>
                <a:sym typeface="Open Sauce"/>
              </a:rPr>
              <a:t>All customers have made repeat purchases within a specified timeframe (30 days). Each customer has a "Repeat Purchases" flag marked as 1, which indicates they are repeat customers.</a:t>
            </a:r>
          </a:p>
        </p:txBody>
      </p:sp>
      <p:sp>
        <p:nvSpPr>
          <p:cNvPr name="TextBox 10" id="10"/>
          <p:cNvSpPr txBox="true"/>
          <p:nvPr/>
        </p:nvSpPr>
        <p:spPr>
          <a:xfrm rot="0">
            <a:off x="1440437" y="6543675"/>
            <a:ext cx="6881943" cy="1748149"/>
          </a:xfrm>
          <a:prstGeom prst="rect">
            <a:avLst/>
          </a:prstGeom>
        </p:spPr>
        <p:txBody>
          <a:bodyPr anchor="t" rtlCol="false" tIns="0" lIns="0" bIns="0" rIns="0">
            <a:spAutoFit/>
          </a:bodyPr>
          <a:lstStyle/>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All customers have made repeat purchases, as indicated by the "Repeat Purchases" value of 1 for each.</a:t>
            </a:r>
          </a:p>
          <a:p>
            <a:pPr algn="l" marL="403046" indent="-201523" lvl="1">
              <a:lnSpc>
                <a:spcPts val="2800"/>
              </a:lnSpc>
              <a:buFont typeface="Arial"/>
              <a:buChar char="•"/>
            </a:pPr>
            <a:r>
              <a:rPr lang="en-US" sz="1866">
                <a:solidFill>
                  <a:srgbClr val="343432"/>
                </a:solidFill>
                <a:latin typeface="Open Sauce"/>
                <a:ea typeface="Open Sauce"/>
                <a:cs typeface="Open Sauce"/>
                <a:sym typeface="Open Sauce"/>
              </a:rPr>
              <a:t>Purchase timeframes range between early January and March 2019, with most customers making their last purchase within January and March.</a:t>
            </a:r>
          </a:p>
        </p:txBody>
      </p:sp>
      <p:sp>
        <p:nvSpPr>
          <p:cNvPr name="TextBox 11" id="11"/>
          <p:cNvSpPr txBox="true"/>
          <p:nvPr/>
        </p:nvSpPr>
        <p:spPr>
          <a:xfrm rot="0">
            <a:off x="1440437" y="5600565"/>
            <a:ext cx="2036975" cy="486045"/>
          </a:xfrm>
          <a:prstGeom prst="rect">
            <a:avLst/>
          </a:prstGeom>
        </p:spPr>
        <p:txBody>
          <a:bodyPr anchor="t" rtlCol="false" tIns="0" lIns="0" bIns="0" rIns="0">
            <a:spAutoFit/>
          </a:bodyPr>
          <a:lstStyle/>
          <a:p>
            <a:pPr algn="l"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Conclusion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2511952" y="2293139"/>
            <a:ext cx="13264097" cy="2292914"/>
          </a:xfrm>
          <a:custGeom>
            <a:avLst/>
            <a:gdLst/>
            <a:ahLst/>
            <a:cxnLst/>
            <a:rect r="r" b="b" t="t" l="l"/>
            <a:pathLst>
              <a:path h="2292914" w="13264097">
                <a:moveTo>
                  <a:pt x="0" y="0"/>
                </a:moveTo>
                <a:lnTo>
                  <a:pt x="13264096" y="0"/>
                </a:lnTo>
                <a:lnTo>
                  <a:pt x="13264096" y="2292914"/>
                </a:lnTo>
                <a:lnTo>
                  <a:pt x="0" y="2292914"/>
                </a:lnTo>
                <a:lnTo>
                  <a:pt x="0" y="0"/>
                </a:lnTo>
                <a:close/>
              </a:path>
            </a:pathLst>
          </a:custGeom>
          <a:blipFill>
            <a:blip r:embed="rId2"/>
            <a:stretch>
              <a:fillRect l="0" t="0" r="-66373" b="0"/>
            </a:stretch>
          </a:blipFill>
        </p:spPr>
      </p:sp>
      <p:sp>
        <p:nvSpPr>
          <p:cNvPr name="Freeform 12" id="12"/>
          <p:cNvSpPr/>
          <p:nvPr/>
        </p:nvSpPr>
        <p:spPr>
          <a:xfrm flipH="false" flipV="false" rot="0">
            <a:off x="5695131" y="4737047"/>
            <a:ext cx="6897737" cy="4098961"/>
          </a:xfrm>
          <a:custGeom>
            <a:avLst/>
            <a:gdLst/>
            <a:ahLst/>
            <a:cxnLst/>
            <a:rect r="r" b="b" t="t" l="l"/>
            <a:pathLst>
              <a:path h="4098961" w="6897737">
                <a:moveTo>
                  <a:pt x="0" y="0"/>
                </a:moveTo>
                <a:lnTo>
                  <a:pt x="6897738" y="0"/>
                </a:lnTo>
                <a:lnTo>
                  <a:pt x="6897738" y="4098962"/>
                </a:lnTo>
                <a:lnTo>
                  <a:pt x="0" y="4098962"/>
                </a:lnTo>
                <a:lnTo>
                  <a:pt x="0" y="0"/>
                </a:lnTo>
                <a:close/>
              </a:path>
            </a:pathLst>
          </a:custGeom>
          <a:blipFill>
            <a:blip r:embed="rId3"/>
            <a:stretch>
              <a:fillRect l="0" t="0" r="-281675"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8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210617" y="1028700"/>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1187292" y="2669118"/>
            <a:ext cx="9955849" cy="6173232"/>
          </a:xfrm>
          <a:custGeom>
            <a:avLst/>
            <a:gdLst/>
            <a:ahLst/>
            <a:cxnLst/>
            <a:rect r="r" b="b" t="t" l="l"/>
            <a:pathLst>
              <a:path h="6173232" w="9955849">
                <a:moveTo>
                  <a:pt x="0" y="0"/>
                </a:moveTo>
                <a:lnTo>
                  <a:pt x="9955848" y="0"/>
                </a:lnTo>
                <a:lnTo>
                  <a:pt x="9955848" y="6173233"/>
                </a:lnTo>
                <a:lnTo>
                  <a:pt x="0" y="6173233"/>
                </a:lnTo>
                <a:lnTo>
                  <a:pt x="0" y="0"/>
                </a:lnTo>
                <a:close/>
              </a:path>
            </a:pathLst>
          </a:custGeom>
          <a:blipFill>
            <a:blip r:embed="rId3"/>
            <a:stretch>
              <a:fillRect l="0" t="0" r="-211" b="0"/>
            </a:stretch>
          </a:blipFill>
        </p:spPr>
      </p:sp>
      <p:sp>
        <p:nvSpPr>
          <p:cNvPr name="TextBox 7" id="7"/>
          <p:cNvSpPr txBox="true"/>
          <p:nvPr/>
        </p:nvSpPr>
        <p:spPr>
          <a:xfrm rot="0">
            <a:off x="4582883" y="1485366"/>
            <a:ext cx="912223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Top 5 Customers by Sales</a:t>
            </a:r>
          </a:p>
        </p:txBody>
      </p:sp>
      <p:sp>
        <p:nvSpPr>
          <p:cNvPr name="TextBox 8" id="8"/>
          <p:cNvSpPr txBox="true"/>
          <p:nvPr/>
        </p:nvSpPr>
        <p:spPr>
          <a:xfrm rot="0">
            <a:off x="12072617" y="3680305"/>
            <a:ext cx="4276000" cy="480399"/>
          </a:xfrm>
          <a:prstGeom prst="rect">
            <a:avLst/>
          </a:prstGeom>
        </p:spPr>
        <p:txBody>
          <a:bodyPr anchor="t" rtlCol="false" tIns="0" lIns="0" bIns="0" rIns="0">
            <a:spAutoFit/>
          </a:bodyPr>
          <a:lstStyle/>
          <a:p>
            <a:pPr algn="ctr" marL="0" indent="0" lvl="0">
              <a:lnSpc>
                <a:spcPts val="3971"/>
              </a:lnSpc>
              <a:spcBef>
                <a:spcPct val="0"/>
              </a:spcBef>
            </a:pPr>
            <a:r>
              <a:rPr lang="en-US" b="true" sz="2836" spc="-56">
                <a:solidFill>
                  <a:srgbClr val="007DC6"/>
                </a:solidFill>
                <a:latin typeface="Open Sauce Bold"/>
                <a:ea typeface="Open Sauce Bold"/>
                <a:cs typeface="Open Sauce Bold"/>
                <a:sym typeface="Open Sauce Bold"/>
              </a:rPr>
              <a:t>Interpretation</a:t>
            </a:r>
          </a:p>
        </p:txBody>
      </p:sp>
      <p:sp>
        <p:nvSpPr>
          <p:cNvPr name="TextBox 9" id="9"/>
          <p:cNvSpPr txBox="true"/>
          <p:nvPr/>
        </p:nvSpPr>
        <p:spPr>
          <a:xfrm rot="0">
            <a:off x="11620122" y="4557978"/>
            <a:ext cx="5180989" cy="2782492"/>
          </a:xfrm>
          <a:prstGeom prst="rect">
            <a:avLst/>
          </a:prstGeom>
        </p:spPr>
        <p:txBody>
          <a:bodyPr anchor="t" rtlCol="false" tIns="0" lIns="0" bIns="0" rIns="0">
            <a:spAutoFit/>
          </a:bodyPr>
          <a:lstStyle/>
          <a:p>
            <a:pPr algn="l">
              <a:lnSpc>
                <a:spcPts val="3703"/>
              </a:lnSpc>
            </a:pPr>
            <a:r>
              <a:rPr lang="en-US" sz="2468" b="true">
                <a:solidFill>
                  <a:srgbClr val="343432"/>
                </a:solidFill>
                <a:latin typeface="Open Sauce Bold"/>
                <a:ea typeface="Open Sauce Bold"/>
                <a:cs typeface="Open Sauce Bold"/>
                <a:sym typeface="Open Sauce Bold"/>
              </a:rPr>
              <a:t>Total Sales by Top 5 Performers:</a:t>
            </a:r>
            <a:r>
              <a:rPr lang="en-US" sz="2468">
                <a:solidFill>
                  <a:srgbClr val="343432"/>
                </a:solidFill>
                <a:latin typeface="Open Sauce"/>
                <a:ea typeface="Open Sauce"/>
                <a:cs typeface="Open Sauce"/>
                <a:sym typeface="Open Sauce"/>
              </a:rPr>
              <a:t> 113,078.70$</a:t>
            </a:r>
          </a:p>
          <a:p>
            <a:pPr algn="l">
              <a:lnSpc>
                <a:spcPts val="3703"/>
              </a:lnSpc>
            </a:pPr>
          </a:p>
          <a:p>
            <a:pPr algn="l">
              <a:lnSpc>
                <a:spcPts val="3703"/>
              </a:lnSpc>
            </a:pPr>
            <a:r>
              <a:rPr lang="en-US" sz="2468" b="true">
                <a:solidFill>
                  <a:srgbClr val="343432"/>
                </a:solidFill>
                <a:latin typeface="Open Sauce Bold"/>
                <a:ea typeface="Open Sauce Bold"/>
                <a:cs typeface="Open Sauce Bold"/>
                <a:sym typeface="Open Sauce Bold"/>
              </a:rPr>
              <a:t>Total Contribution % by Top 5 Performers:</a:t>
            </a:r>
          </a:p>
          <a:p>
            <a:pPr algn="l">
              <a:lnSpc>
                <a:spcPts val="3703"/>
              </a:lnSpc>
            </a:pPr>
            <a:r>
              <a:rPr lang="en-US" sz="2468">
                <a:solidFill>
                  <a:srgbClr val="343432"/>
                </a:solidFill>
                <a:latin typeface="Open Sauce"/>
                <a:ea typeface="Open Sauce"/>
                <a:cs typeface="Open Sauce"/>
                <a:sym typeface="Open Sauce"/>
              </a:rPr>
              <a:t> 36.26%</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3161480" y="2780903"/>
            <a:ext cx="11965041" cy="1439711"/>
          </a:xfrm>
          <a:custGeom>
            <a:avLst/>
            <a:gdLst/>
            <a:ahLst/>
            <a:cxnLst/>
            <a:rect r="r" b="b" t="t" l="l"/>
            <a:pathLst>
              <a:path h="1439711" w="11965041">
                <a:moveTo>
                  <a:pt x="0" y="0"/>
                </a:moveTo>
                <a:lnTo>
                  <a:pt x="11965040" y="0"/>
                </a:lnTo>
                <a:lnTo>
                  <a:pt x="11965040" y="1439711"/>
                </a:lnTo>
                <a:lnTo>
                  <a:pt x="0" y="1439711"/>
                </a:lnTo>
                <a:lnTo>
                  <a:pt x="0" y="0"/>
                </a:lnTo>
                <a:close/>
              </a:path>
            </a:pathLst>
          </a:custGeom>
          <a:blipFill>
            <a:blip r:embed="rId2"/>
            <a:stretch>
              <a:fillRect l="-1601" t="0" r="-113945" b="0"/>
            </a:stretch>
          </a:blipFill>
        </p:spPr>
      </p:sp>
      <p:sp>
        <p:nvSpPr>
          <p:cNvPr name="Freeform 12" id="12"/>
          <p:cNvSpPr/>
          <p:nvPr/>
        </p:nvSpPr>
        <p:spPr>
          <a:xfrm flipH="false" flipV="false" rot="0">
            <a:off x="2873498" y="4541528"/>
            <a:ext cx="12541004" cy="3159241"/>
          </a:xfrm>
          <a:custGeom>
            <a:avLst/>
            <a:gdLst/>
            <a:ahLst/>
            <a:cxnLst/>
            <a:rect r="r" b="b" t="t" l="l"/>
            <a:pathLst>
              <a:path h="3159241" w="12541004">
                <a:moveTo>
                  <a:pt x="0" y="0"/>
                </a:moveTo>
                <a:lnTo>
                  <a:pt x="12541004" y="0"/>
                </a:lnTo>
                <a:lnTo>
                  <a:pt x="12541004" y="3159241"/>
                </a:lnTo>
                <a:lnTo>
                  <a:pt x="0" y="3159241"/>
                </a:lnTo>
                <a:lnTo>
                  <a:pt x="0" y="0"/>
                </a:lnTo>
                <a:close/>
              </a:path>
            </a:pathLst>
          </a:custGeom>
          <a:blipFill>
            <a:blip r:embed="rId3"/>
            <a:stretch>
              <a:fillRect l="0" t="0" r="-36614"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9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399" y="35970"/>
            <a:ext cx="18288000" cy="10251030"/>
            <a:chOff x="0" y="0"/>
            <a:chExt cx="4816593" cy="2699860"/>
          </a:xfrm>
        </p:grpSpPr>
        <p:sp>
          <p:nvSpPr>
            <p:cNvPr name="Freeform 3" id="3"/>
            <p:cNvSpPr/>
            <p:nvPr/>
          </p:nvSpPr>
          <p:spPr>
            <a:xfrm flipH="false" flipV="false" rot="0">
              <a:off x="0" y="0"/>
              <a:ext cx="4816592" cy="2699860"/>
            </a:xfrm>
            <a:custGeom>
              <a:avLst/>
              <a:gdLst/>
              <a:ahLst/>
              <a:cxnLst/>
              <a:rect r="r" b="b" t="t" l="l"/>
              <a:pathLst>
                <a:path h="2699860" w="4816592">
                  <a:moveTo>
                    <a:pt x="0" y="0"/>
                  </a:moveTo>
                  <a:lnTo>
                    <a:pt x="4816592" y="0"/>
                  </a:lnTo>
                  <a:lnTo>
                    <a:pt x="4816592" y="2699860"/>
                  </a:lnTo>
                  <a:lnTo>
                    <a:pt x="0" y="2699860"/>
                  </a:lnTo>
                  <a:close/>
                </a:path>
              </a:pathLst>
            </a:custGeom>
            <a:solidFill>
              <a:srgbClr val="000000">
                <a:alpha val="0"/>
              </a:srgbClr>
            </a:solidFill>
            <a:ln w="381000" cap="sq">
              <a:solidFill>
                <a:srgbClr val="FDFBFB"/>
              </a:solidFill>
              <a:prstDash val="solid"/>
              <a:miter/>
            </a:ln>
          </p:spPr>
        </p:sp>
        <p:sp>
          <p:nvSpPr>
            <p:cNvPr name="TextBox 4" id="4"/>
            <p:cNvSpPr txBox="true"/>
            <p:nvPr/>
          </p:nvSpPr>
          <p:spPr>
            <a:xfrm>
              <a:off x="0" y="-38100"/>
              <a:ext cx="4816593" cy="2737960"/>
            </a:xfrm>
            <a:prstGeom prst="rect">
              <a:avLst/>
            </a:prstGeom>
          </p:spPr>
          <p:txBody>
            <a:bodyPr anchor="ctr" rtlCol="false" tIns="50800" lIns="50800" bIns="50800" rIns="50800"/>
            <a:lstStyle/>
            <a:p>
              <a:pPr algn="ctr">
                <a:lnSpc>
                  <a:spcPts val="3035"/>
                </a:lnSpc>
              </a:pPr>
            </a:p>
          </p:txBody>
        </p:sp>
      </p:grpSp>
      <p:sp>
        <p:nvSpPr>
          <p:cNvPr name="Freeform 5" id="5"/>
          <p:cNvSpPr/>
          <p:nvPr/>
        </p:nvSpPr>
        <p:spPr>
          <a:xfrm flipH="false" flipV="false" rot="0">
            <a:off x="1440437" y="1011292"/>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Freeform 6" id="6"/>
          <p:cNvSpPr/>
          <p:nvPr/>
        </p:nvSpPr>
        <p:spPr>
          <a:xfrm flipH="false" flipV="false" rot="0">
            <a:off x="5958041" y="3536844"/>
            <a:ext cx="11301259" cy="4562883"/>
          </a:xfrm>
          <a:custGeom>
            <a:avLst/>
            <a:gdLst/>
            <a:ahLst/>
            <a:cxnLst/>
            <a:rect r="r" b="b" t="t" l="l"/>
            <a:pathLst>
              <a:path h="4562883" w="11301259">
                <a:moveTo>
                  <a:pt x="0" y="0"/>
                </a:moveTo>
                <a:lnTo>
                  <a:pt x="11301259" y="0"/>
                </a:lnTo>
                <a:lnTo>
                  <a:pt x="11301259" y="4562884"/>
                </a:lnTo>
                <a:lnTo>
                  <a:pt x="0" y="4562884"/>
                </a:lnTo>
                <a:lnTo>
                  <a:pt x="0" y="0"/>
                </a:lnTo>
                <a:close/>
              </a:path>
            </a:pathLst>
          </a:custGeom>
          <a:blipFill>
            <a:blip r:embed="rId3"/>
            <a:stretch>
              <a:fillRect l="0" t="0" r="0" b="0"/>
            </a:stretch>
          </a:blipFill>
        </p:spPr>
      </p:sp>
      <p:sp>
        <p:nvSpPr>
          <p:cNvPr name="TextBox 7" id="7"/>
          <p:cNvSpPr txBox="true"/>
          <p:nvPr/>
        </p:nvSpPr>
        <p:spPr>
          <a:xfrm rot="0">
            <a:off x="1028700" y="1842558"/>
            <a:ext cx="16230600"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Sales Trends by Day of Week</a:t>
            </a:r>
          </a:p>
        </p:txBody>
      </p:sp>
      <p:sp>
        <p:nvSpPr>
          <p:cNvPr name="TextBox 8" id="8"/>
          <p:cNvSpPr txBox="true"/>
          <p:nvPr/>
        </p:nvSpPr>
        <p:spPr>
          <a:xfrm rot="0">
            <a:off x="1028700" y="3746951"/>
            <a:ext cx="2597421" cy="489839"/>
          </a:xfrm>
          <a:prstGeom prst="rect">
            <a:avLst/>
          </a:prstGeom>
        </p:spPr>
        <p:txBody>
          <a:bodyPr anchor="t" rtlCol="false" tIns="0" lIns="0" bIns="0" rIns="0">
            <a:spAutoFit/>
          </a:bodyPr>
          <a:lstStyle/>
          <a:p>
            <a:pPr algn="l" marL="0" indent="0" lvl="0">
              <a:lnSpc>
                <a:spcPts val="3976"/>
              </a:lnSpc>
              <a:spcBef>
                <a:spcPct val="0"/>
              </a:spcBef>
            </a:pPr>
            <a:r>
              <a:rPr lang="en-US" b="true" sz="2840" spc="-56">
                <a:solidFill>
                  <a:srgbClr val="007DC6"/>
                </a:solidFill>
                <a:latin typeface="Open Sauce Bold"/>
                <a:ea typeface="Open Sauce Bold"/>
                <a:cs typeface="Open Sauce Bold"/>
                <a:sym typeface="Open Sauce Bold"/>
              </a:rPr>
              <a:t>Analysis</a:t>
            </a:r>
          </a:p>
        </p:txBody>
      </p:sp>
      <p:sp>
        <p:nvSpPr>
          <p:cNvPr name="TextBox 9" id="9"/>
          <p:cNvSpPr txBox="true"/>
          <p:nvPr/>
        </p:nvSpPr>
        <p:spPr>
          <a:xfrm rot="0">
            <a:off x="1028700" y="4295591"/>
            <a:ext cx="4637122" cy="2452999"/>
          </a:xfrm>
          <a:prstGeom prst="rect">
            <a:avLst/>
          </a:prstGeom>
        </p:spPr>
        <p:txBody>
          <a:bodyPr anchor="t" rtlCol="false" tIns="0" lIns="0" bIns="0" rIns="0">
            <a:spAutoFit/>
          </a:bodyPr>
          <a:lstStyle/>
          <a:p>
            <a:pPr algn="l">
              <a:lnSpc>
                <a:spcPts val="2800"/>
              </a:lnSpc>
            </a:pPr>
            <a:r>
              <a:rPr lang="en-US" sz="1866" b="true">
                <a:solidFill>
                  <a:srgbClr val="343432"/>
                </a:solidFill>
                <a:latin typeface="Open Sauce Bold"/>
                <a:ea typeface="Open Sauce Bold"/>
                <a:cs typeface="Open Sauce Bold"/>
                <a:sym typeface="Open Sauce Bold"/>
              </a:rPr>
              <a:t>Highest Sales:</a:t>
            </a:r>
          </a:p>
          <a:p>
            <a:pPr algn="l">
              <a:lnSpc>
                <a:spcPts val="2800"/>
              </a:lnSpc>
            </a:pPr>
            <a:r>
              <a:rPr lang="en-US" sz="1866">
                <a:solidFill>
                  <a:srgbClr val="343432"/>
                </a:solidFill>
                <a:latin typeface="Open Sauce"/>
                <a:ea typeface="Open Sauce"/>
                <a:cs typeface="Open Sauce"/>
                <a:sym typeface="Open Sauce"/>
              </a:rPr>
              <a:t>The highest sales occurred on Tuesday, with $54,630.30.</a:t>
            </a:r>
          </a:p>
          <a:p>
            <a:pPr algn="l">
              <a:lnSpc>
                <a:spcPts val="2800"/>
              </a:lnSpc>
            </a:pPr>
          </a:p>
          <a:p>
            <a:pPr algn="l">
              <a:lnSpc>
                <a:spcPts val="2800"/>
              </a:lnSpc>
            </a:pPr>
            <a:r>
              <a:rPr lang="en-US" sz="1866" b="true">
                <a:solidFill>
                  <a:srgbClr val="343432"/>
                </a:solidFill>
                <a:latin typeface="Open Sauce Bold"/>
                <a:ea typeface="Open Sauce Bold"/>
                <a:cs typeface="Open Sauce Bold"/>
                <a:sym typeface="Open Sauce Bold"/>
              </a:rPr>
              <a:t>Lowest Sales:</a:t>
            </a:r>
          </a:p>
          <a:p>
            <a:pPr algn="l">
              <a:lnSpc>
                <a:spcPts val="2800"/>
              </a:lnSpc>
            </a:pPr>
            <a:r>
              <a:rPr lang="en-US" sz="1866">
                <a:solidFill>
                  <a:srgbClr val="343432"/>
                </a:solidFill>
                <a:latin typeface="Open Sauce"/>
                <a:ea typeface="Open Sauce"/>
                <a:cs typeface="Open Sauce"/>
                <a:sym typeface="Open Sauce"/>
              </a:rPr>
              <a:t>The lowest sales occurred on Monday, with $35,049.</a:t>
            </a:r>
          </a:p>
        </p:txBody>
      </p:sp>
      <p:sp>
        <p:nvSpPr>
          <p:cNvPr name="TextBox 10" id="10"/>
          <p:cNvSpPr txBox="true"/>
          <p:nvPr/>
        </p:nvSpPr>
        <p:spPr>
          <a:xfrm rot="0">
            <a:off x="1028700" y="7180361"/>
            <a:ext cx="4276000" cy="489839"/>
          </a:xfrm>
          <a:prstGeom prst="rect">
            <a:avLst/>
          </a:prstGeom>
        </p:spPr>
        <p:txBody>
          <a:bodyPr anchor="t" rtlCol="false" tIns="0" lIns="0" bIns="0" rIns="0">
            <a:spAutoFit/>
          </a:bodyPr>
          <a:lstStyle/>
          <a:p>
            <a:pPr algn="l" marL="0" indent="0" lvl="0">
              <a:lnSpc>
                <a:spcPts val="3976"/>
              </a:lnSpc>
              <a:spcBef>
                <a:spcPct val="0"/>
              </a:spcBef>
            </a:pPr>
            <a:r>
              <a:rPr lang="en-US" b="true" sz="2840" spc="-56">
                <a:solidFill>
                  <a:srgbClr val="007DC6"/>
                </a:solidFill>
                <a:latin typeface="Open Sauce Bold"/>
                <a:ea typeface="Open Sauce Bold"/>
                <a:cs typeface="Open Sauce Bold"/>
                <a:sym typeface="Open Sauce Bold"/>
              </a:rPr>
              <a:t>Conclusion</a:t>
            </a:r>
          </a:p>
        </p:txBody>
      </p:sp>
      <p:sp>
        <p:nvSpPr>
          <p:cNvPr name="TextBox 11" id="11"/>
          <p:cNvSpPr txBox="true"/>
          <p:nvPr/>
        </p:nvSpPr>
        <p:spPr>
          <a:xfrm rot="0">
            <a:off x="1028700" y="7725715"/>
            <a:ext cx="4637122" cy="690874"/>
          </a:xfrm>
          <a:prstGeom prst="rect">
            <a:avLst/>
          </a:prstGeom>
        </p:spPr>
        <p:txBody>
          <a:bodyPr anchor="t" rtlCol="false" tIns="0" lIns="0" bIns="0" rIns="0">
            <a:spAutoFit/>
          </a:bodyPr>
          <a:lstStyle/>
          <a:p>
            <a:pPr algn="l">
              <a:lnSpc>
                <a:spcPts val="2800"/>
              </a:lnSpc>
            </a:pPr>
            <a:r>
              <a:rPr lang="en-US" sz="1866">
                <a:solidFill>
                  <a:srgbClr val="343432"/>
                </a:solidFill>
                <a:latin typeface="Open Sauce"/>
                <a:ea typeface="Open Sauce"/>
                <a:cs typeface="Open Sauce"/>
                <a:sym typeface="Open Sauce"/>
              </a:rPr>
              <a:t>Tuesday brings the highest sales, while Monday experiences the lowest sales.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11589" y="8007246"/>
            <a:ext cx="4201427" cy="420142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1868494" y="-2100713"/>
            <a:ext cx="4201427" cy="42014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D7AA08"/>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575233" y="9258300"/>
            <a:ext cx="1614906" cy="161490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3344200" y="2783407"/>
            <a:ext cx="11599600" cy="1335829"/>
          </a:xfrm>
          <a:custGeom>
            <a:avLst/>
            <a:gdLst/>
            <a:ahLst/>
            <a:cxnLst/>
            <a:rect r="r" b="b" t="t" l="l"/>
            <a:pathLst>
              <a:path h="1335829" w="11599600">
                <a:moveTo>
                  <a:pt x="0" y="0"/>
                </a:moveTo>
                <a:lnTo>
                  <a:pt x="11599600" y="0"/>
                </a:lnTo>
                <a:lnTo>
                  <a:pt x="11599600" y="1335829"/>
                </a:lnTo>
                <a:lnTo>
                  <a:pt x="0" y="1335829"/>
                </a:lnTo>
                <a:lnTo>
                  <a:pt x="0" y="0"/>
                </a:lnTo>
                <a:close/>
              </a:path>
            </a:pathLst>
          </a:custGeom>
          <a:blipFill>
            <a:blip r:embed="rId2"/>
            <a:stretch>
              <a:fillRect l="0" t="0" r="-66210" b="0"/>
            </a:stretch>
          </a:blipFill>
        </p:spPr>
      </p:sp>
      <p:sp>
        <p:nvSpPr>
          <p:cNvPr name="Freeform 12" id="12"/>
          <p:cNvSpPr/>
          <p:nvPr/>
        </p:nvSpPr>
        <p:spPr>
          <a:xfrm flipH="false" flipV="false" rot="0">
            <a:off x="3146059" y="4381143"/>
            <a:ext cx="11995882" cy="3463164"/>
          </a:xfrm>
          <a:custGeom>
            <a:avLst/>
            <a:gdLst/>
            <a:ahLst/>
            <a:cxnLst/>
            <a:rect r="r" b="b" t="t" l="l"/>
            <a:pathLst>
              <a:path h="3463164" w="11995882">
                <a:moveTo>
                  <a:pt x="0" y="0"/>
                </a:moveTo>
                <a:lnTo>
                  <a:pt x="11995882" y="0"/>
                </a:lnTo>
                <a:lnTo>
                  <a:pt x="11995882" y="3463164"/>
                </a:lnTo>
                <a:lnTo>
                  <a:pt x="0" y="3463164"/>
                </a:lnTo>
                <a:lnTo>
                  <a:pt x="0" y="0"/>
                </a:lnTo>
                <a:close/>
              </a:path>
            </a:pathLst>
          </a:custGeom>
          <a:blipFill>
            <a:blip r:embed="rId3"/>
            <a:stretch>
              <a:fillRect l="0" t="-1509" r="-143024" b="0"/>
            </a:stretch>
          </a:blipFill>
        </p:spPr>
      </p:sp>
      <p:sp>
        <p:nvSpPr>
          <p:cNvPr name="TextBox 13" id="13"/>
          <p:cNvSpPr txBox="true"/>
          <p:nvPr/>
        </p:nvSpPr>
        <p:spPr>
          <a:xfrm rot="0">
            <a:off x="4212948" y="952500"/>
            <a:ext cx="9862104" cy="663194"/>
          </a:xfrm>
          <a:prstGeom prst="rect">
            <a:avLst/>
          </a:prstGeom>
        </p:spPr>
        <p:txBody>
          <a:bodyPr anchor="t" rtlCol="false" tIns="0" lIns="0" bIns="0" rIns="0">
            <a:spAutoFit/>
          </a:bodyPr>
          <a:lstStyle/>
          <a:p>
            <a:pPr algn="ctr" marL="0" indent="0" lvl="0">
              <a:lnSpc>
                <a:spcPts val="5446"/>
              </a:lnSpc>
              <a:spcBef>
                <a:spcPct val="0"/>
              </a:spcBef>
            </a:pPr>
            <a:r>
              <a:rPr lang="en-US" b="true" sz="3890" spc="-77">
                <a:solidFill>
                  <a:srgbClr val="191919"/>
                </a:solidFill>
                <a:latin typeface="Open Sauce Bold"/>
                <a:ea typeface="Open Sauce Bold"/>
                <a:cs typeface="Open Sauce Bold"/>
                <a:sym typeface="Open Sauce Bold"/>
              </a:rPr>
              <a:t>Task 10 : MySQL query and Output Table</a:t>
            </a:r>
          </a:p>
        </p:txBody>
      </p:sp>
      <p:sp>
        <p:nvSpPr>
          <p:cNvPr name="Freeform 14" id="14"/>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4"/>
            <a:stretch>
              <a:fillRect l="0" t="-26160" r="0" b="-2616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TextBox 3" id="3"/>
          <p:cNvSpPr txBox="true"/>
          <p:nvPr/>
        </p:nvSpPr>
        <p:spPr>
          <a:xfrm rot="0">
            <a:off x="1028700" y="952500"/>
            <a:ext cx="16230600" cy="630174"/>
          </a:xfrm>
          <a:prstGeom prst="rect">
            <a:avLst/>
          </a:prstGeom>
        </p:spPr>
        <p:txBody>
          <a:bodyPr anchor="t" rtlCol="false" tIns="0" lIns="0" bIns="0" rIns="0">
            <a:spAutoFit/>
          </a:bodyPr>
          <a:lstStyle/>
          <a:p>
            <a:pPr algn="ctr" marL="0" indent="0" lvl="0">
              <a:lnSpc>
                <a:spcPts val="5166"/>
              </a:lnSpc>
              <a:spcBef>
                <a:spcPct val="0"/>
              </a:spcBef>
            </a:pPr>
            <a:r>
              <a:rPr lang="en-US" b="true" sz="3690" spc="-73">
                <a:solidFill>
                  <a:srgbClr val="191919"/>
                </a:solidFill>
                <a:latin typeface="Open Sauce Bold"/>
                <a:ea typeface="Open Sauce Bold"/>
                <a:cs typeface="Open Sauce Bold"/>
                <a:sym typeface="Open Sauce Bold"/>
              </a:rPr>
              <a:t>Key Findings</a:t>
            </a:r>
          </a:p>
        </p:txBody>
      </p:sp>
      <p:sp>
        <p:nvSpPr>
          <p:cNvPr name="TextBox 4" id="4"/>
          <p:cNvSpPr txBox="true"/>
          <p:nvPr/>
        </p:nvSpPr>
        <p:spPr>
          <a:xfrm rot="0">
            <a:off x="1513831" y="1940563"/>
            <a:ext cx="6717808" cy="7407783"/>
          </a:xfrm>
          <a:prstGeom prst="rect">
            <a:avLst/>
          </a:prstGeom>
        </p:spPr>
        <p:txBody>
          <a:bodyPr anchor="t" rtlCol="false" tIns="0" lIns="0" bIns="0" rIns="0">
            <a:spAutoFit/>
          </a:bodyPr>
          <a:lstStyle/>
          <a:p>
            <a:pPr algn="l">
              <a:lnSpc>
                <a:spcPts val="3105"/>
              </a:lnSpc>
            </a:pPr>
            <a:r>
              <a:rPr lang="en-US" sz="2070" b="true">
                <a:solidFill>
                  <a:srgbClr val="007DC6"/>
                </a:solidFill>
                <a:latin typeface="Open Sauce Bold"/>
                <a:ea typeface="Open Sauce Bold"/>
                <a:cs typeface="Open Sauce Bold"/>
                <a:sym typeface="Open Sauce Bold"/>
              </a:rPr>
              <a:t> </a:t>
            </a:r>
            <a:r>
              <a:rPr lang="en-US" b="true" sz="2070" i="true">
                <a:solidFill>
                  <a:srgbClr val="007DC6"/>
                </a:solidFill>
                <a:latin typeface="Open Sauce Bold Italics"/>
                <a:ea typeface="Open Sauce Bold Italics"/>
                <a:cs typeface="Open Sauce Bold Italics"/>
                <a:sym typeface="Open Sauce Bold Italics"/>
              </a:rPr>
              <a:t>1. Branch Performance:</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Branch B:</a:t>
            </a:r>
            <a:r>
              <a:rPr lang="en-US" sz="2070">
                <a:solidFill>
                  <a:srgbClr val="343432"/>
                </a:solidFill>
                <a:latin typeface="Open Sauce"/>
                <a:ea typeface="Open Sauce"/>
                <a:cs typeface="Open Sauce"/>
                <a:sym typeface="Open Sauce"/>
              </a:rPr>
              <a:t> Top performer in terms of growth rate.</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Branch C: </a:t>
            </a:r>
            <a:r>
              <a:rPr lang="en-US" sz="2070">
                <a:solidFill>
                  <a:srgbClr val="343432"/>
                </a:solidFill>
                <a:latin typeface="Open Sauce"/>
                <a:ea typeface="Open Sauce"/>
                <a:cs typeface="Open Sauce"/>
                <a:sym typeface="Open Sauce"/>
              </a:rPr>
              <a:t>Leads in total sales</a:t>
            </a:r>
          </a:p>
          <a:p>
            <a:pPr algn="l">
              <a:lnSpc>
                <a:spcPts val="3105"/>
              </a:lnSpc>
            </a:pPr>
          </a:p>
          <a:p>
            <a:pPr algn="l">
              <a:lnSpc>
                <a:spcPts val="3105"/>
              </a:lnSpc>
            </a:pPr>
            <a:r>
              <a:rPr lang="en-US" b="true" sz="2070" i="true">
                <a:solidFill>
                  <a:srgbClr val="007DC6"/>
                </a:solidFill>
                <a:latin typeface="Open Sauce Bold Italics"/>
                <a:ea typeface="Open Sauce Bold Italics"/>
                <a:cs typeface="Open Sauce Bold Italics"/>
                <a:sym typeface="Open Sauce Bold Italics"/>
              </a:rPr>
              <a:t>2. Spending Patterns: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Fashion Accessories: </a:t>
            </a:r>
            <a:r>
              <a:rPr lang="en-US" sz="2070">
                <a:solidFill>
                  <a:srgbClr val="343432"/>
                </a:solidFill>
                <a:latin typeface="Open Sauce"/>
                <a:ea typeface="Open Sauce"/>
                <a:cs typeface="Open Sauce"/>
                <a:sym typeface="Open Sauce"/>
              </a:rPr>
              <a:t>Top-performing product category in branches A and C.</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Home and Lifestyle:</a:t>
            </a:r>
            <a:r>
              <a:rPr lang="en-US" sz="2070">
                <a:solidFill>
                  <a:srgbClr val="343432"/>
                </a:solidFill>
                <a:latin typeface="Open Sauce"/>
                <a:ea typeface="Open Sauce"/>
                <a:cs typeface="Open Sauce"/>
                <a:sym typeface="Open Sauce"/>
              </a:rPr>
              <a:t> Leads in sales in Branch B.</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Mandalay:</a:t>
            </a:r>
            <a:r>
              <a:rPr lang="en-US" sz="2070">
                <a:solidFill>
                  <a:srgbClr val="343432"/>
                </a:solidFill>
                <a:latin typeface="Open Sauce"/>
                <a:ea typeface="Open Sauce"/>
                <a:cs typeface="Open Sauce"/>
                <a:sym typeface="Open Sauce"/>
              </a:rPr>
              <a:t> Highest sales from low spenders.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Naypyitaw: </a:t>
            </a:r>
            <a:r>
              <a:rPr lang="en-US" sz="2070">
                <a:solidFill>
                  <a:srgbClr val="343432"/>
                </a:solidFill>
                <a:latin typeface="Open Sauce"/>
                <a:ea typeface="Open Sauce"/>
                <a:cs typeface="Open Sauce"/>
                <a:sym typeface="Open Sauce"/>
              </a:rPr>
              <a:t>Strong sales from high spenders.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Yangon:</a:t>
            </a:r>
            <a:r>
              <a:rPr lang="en-US" sz="2070">
                <a:solidFill>
                  <a:srgbClr val="343432"/>
                </a:solidFill>
                <a:latin typeface="Open Sauce"/>
                <a:ea typeface="Open Sauce"/>
                <a:cs typeface="Open Sauce"/>
                <a:sym typeface="Open Sauce"/>
              </a:rPr>
              <a:t> Balanced but low-spenders dominate.</a:t>
            </a:r>
          </a:p>
          <a:p>
            <a:pPr algn="l">
              <a:lnSpc>
                <a:spcPts val="3105"/>
              </a:lnSpc>
            </a:pPr>
          </a:p>
          <a:p>
            <a:pPr algn="l">
              <a:lnSpc>
                <a:spcPts val="3105"/>
              </a:lnSpc>
            </a:pPr>
            <a:r>
              <a:rPr lang="en-US" b="true" sz="2070" i="true">
                <a:solidFill>
                  <a:srgbClr val="007DC6"/>
                </a:solidFill>
                <a:latin typeface="Open Sauce Bold Italics"/>
                <a:ea typeface="Open Sauce Bold Italics"/>
                <a:cs typeface="Open Sauce Bold Italics"/>
                <a:sym typeface="Open Sauce Bold Italics"/>
              </a:rPr>
              <a:t>3. Gender-Based Spending Trends: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Female Customers: </a:t>
            </a:r>
            <a:r>
              <a:rPr lang="en-US" sz="2070">
                <a:solidFill>
                  <a:srgbClr val="343432"/>
                </a:solidFill>
                <a:latin typeface="Open Sauce"/>
                <a:ea typeface="Open Sauce"/>
                <a:cs typeface="Open Sauce"/>
                <a:sym typeface="Open Sauce"/>
              </a:rPr>
              <a:t>Tend more in low and medium spender categories, with higher spending in January and February.</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Male Customers:</a:t>
            </a:r>
            <a:r>
              <a:rPr lang="en-US" sz="2070">
                <a:solidFill>
                  <a:srgbClr val="343432"/>
                </a:solidFill>
                <a:latin typeface="Open Sauce"/>
                <a:ea typeface="Open Sauce"/>
                <a:cs typeface="Open Sauce"/>
                <a:sym typeface="Open Sauce"/>
              </a:rPr>
              <a:t> Have a more balanced contribution across all tiers, with spikes in March and December.</a:t>
            </a:r>
          </a:p>
        </p:txBody>
      </p:sp>
      <p:sp>
        <p:nvSpPr>
          <p:cNvPr name="TextBox 5" id="5"/>
          <p:cNvSpPr txBox="true"/>
          <p:nvPr/>
        </p:nvSpPr>
        <p:spPr>
          <a:xfrm rot="0">
            <a:off x="9444673" y="1764350"/>
            <a:ext cx="7456051" cy="7798308"/>
          </a:xfrm>
          <a:prstGeom prst="rect">
            <a:avLst/>
          </a:prstGeom>
        </p:spPr>
        <p:txBody>
          <a:bodyPr anchor="t" rtlCol="false" tIns="0" lIns="0" bIns="0" rIns="0">
            <a:spAutoFit/>
          </a:bodyPr>
          <a:lstStyle/>
          <a:p>
            <a:pPr algn="l">
              <a:lnSpc>
                <a:spcPts val="3105"/>
              </a:lnSpc>
            </a:pPr>
            <a:r>
              <a:rPr lang="en-US" sz="2070" i="true" b="true">
                <a:solidFill>
                  <a:srgbClr val="007DC6"/>
                </a:solidFill>
                <a:latin typeface="Open Sauce Bold Italics"/>
                <a:ea typeface="Open Sauce Bold Italics"/>
                <a:cs typeface="Open Sauce Bold Italics"/>
                <a:sym typeface="Open Sauce Bold Italics"/>
              </a:rPr>
              <a:t>4. Sales Performance Insights: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January:</a:t>
            </a:r>
            <a:r>
              <a:rPr lang="en-US" sz="2070">
                <a:solidFill>
                  <a:srgbClr val="343432"/>
                </a:solidFill>
                <a:latin typeface="Open Sauce"/>
                <a:ea typeface="Open Sauce"/>
                <a:cs typeface="Open Sauce"/>
                <a:sym typeface="Open Sauce"/>
              </a:rPr>
              <a:t> Highest overall sales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March and December:</a:t>
            </a:r>
            <a:r>
              <a:rPr lang="en-US" sz="2070">
                <a:solidFill>
                  <a:srgbClr val="343432"/>
                </a:solidFill>
                <a:latin typeface="Open Sauce"/>
                <a:ea typeface="Open Sauce"/>
                <a:cs typeface="Open Sauce"/>
                <a:sym typeface="Open Sauce"/>
              </a:rPr>
              <a:t> Peak sales for male customers</a:t>
            </a:r>
          </a:p>
          <a:p>
            <a:pPr algn="l">
              <a:lnSpc>
                <a:spcPts val="3105"/>
              </a:lnSpc>
            </a:pPr>
          </a:p>
          <a:p>
            <a:pPr algn="l">
              <a:lnSpc>
                <a:spcPts val="3105"/>
              </a:lnSpc>
            </a:pPr>
            <a:r>
              <a:rPr lang="en-US" b="true" sz="2070" i="true">
                <a:solidFill>
                  <a:srgbClr val="007DC6"/>
                </a:solidFill>
                <a:latin typeface="Open Sauce Bold Italics"/>
                <a:ea typeface="Open Sauce Bold Italics"/>
                <a:cs typeface="Open Sauce Bold Italics"/>
                <a:sym typeface="Open Sauce Bold Italics"/>
              </a:rPr>
              <a:t>5. Payment Mode:</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Yangon and Mandalay:</a:t>
            </a:r>
            <a:r>
              <a:rPr lang="en-US" sz="2070">
                <a:solidFill>
                  <a:srgbClr val="343432"/>
                </a:solidFill>
                <a:latin typeface="Open Sauce"/>
                <a:ea typeface="Open Sauce"/>
                <a:cs typeface="Open Sauce"/>
                <a:sym typeface="Open Sauce"/>
              </a:rPr>
              <a:t> Prefer E-wallet.</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Naypyitaw:</a:t>
            </a:r>
            <a:r>
              <a:rPr lang="en-US" sz="2070">
                <a:solidFill>
                  <a:srgbClr val="343432"/>
                </a:solidFill>
                <a:latin typeface="Open Sauce"/>
                <a:ea typeface="Open Sauce"/>
                <a:cs typeface="Open Sauce"/>
                <a:sym typeface="Open Sauce"/>
              </a:rPr>
              <a:t> Prefers cash.</a:t>
            </a:r>
          </a:p>
          <a:p>
            <a:pPr algn="l">
              <a:lnSpc>
                <a:spcPts val="3105"/>
              </a:lnSpc>
            </a:pPr>
          </a:p>
          <a:p>
            <a:pPr algn="l">
              <a:lnSpc>
                <a:spcPts val="3105"/>
              </a:lnSpc>
            </a:pPr>
            <a:r>
              <a:rPr lang="en-US" b="true" sz="2070" i="true">
                <a:solidFill>
                  <a:srgbClr val="007DC6"/>
                </a:solidFill>
                <a:latin typeface="Open Sauce Bold Italics"/>
                <a:ea typeface="Open Sauce Bold Italics"/>
                <a:cs typeface="Open Sauce Bold Italics"/>
                <a:sym typeface="Open Sauce Bold Italics"/>
              </a:rPr>
              <a:t>6. Product Line Preferences: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Members: </a:t>
            </a:r>
            <a:r>
              <a:rPr lang="en-US" sz="2070">
                <a:solidFill>
                  <a:srgbClr val="343432"/>
                </a:solidFill>
                <a:latin typeface="Open Sauce"/>
                <a:ea typeface="Open Sauce"/>
                <a:cs typeface="Open Sauce"/>
                <a:sym typeface="Open Sauce"/>
              </a:rPr>
              <a:t>Prefer food and beverages.</a:t>
            </a:r>
          </a:p>
          <a:p>
            <a:pPr algn="l" marL="446913" indent="-223457" lvl="1">
              <a:lnSpc>
                <a:spcPts val="3105"/>
              </a:lnSpc>
              <a:buFont typeface="Arial"/>
              <a:buChar char="•"/>
            </a:pPr>
            <a:r>
              <a:rPr lang="en-US" b="true" sz="2070">
                <a:solidFill>
                  <a:srgbClr val="343432"/>
                </a:solidFill>
                <a:latin typeface="Open Sauce Bold"/>
                <a:ea typeface="Open Sauce Bold"/>
                <a:cs typeface="Open Sauce Bold"/>
                <a:sym typeface="Open Sauce Bold"/>
              </a:rPr>
              <a:t>Normal Customers:</a:t>
            </a:r>
            <a:r>
              <a:rPr lang="en-US" sz="2070">
                <a:solidFill>
                  <a:srgbClr val="343432"/>
                </a:solidFill>
                <a:latin typeface="Open Sauce"/>
                <a:ea typeface="Open Sauce"/>
                <a:cs typeface="Open Sauce"/>
                <a:sym typeface="Open Sauce"/>
              </a:rPr>
              <a:t> Prefer electronic accessories.</a:t>
            </a:r>
          </a:p>
          <a:p>
            <a:pPr algn="l">
              <a:lnSpc>
                <a:spcPts val="3105"/>
              </a:lnSpc>
            </a:pPr>
          </a:p>
          <a:p>
            <a:pPr algn="l">
              <a:lnSpc>
                <a:spcPts val="3105"/>
              </a:lnSpc>
            </a:pPr>
            <a:r>
              <a:rPr lang="en-US" sz="2070" i="true" b="true">
                <a:solidFill>
                  <a:srgbClr val="007DC6"/>
                </a:solidFill>
                <a:latin typeface="Open Sauce Bold Italics"/>
                <a:ea typeface="Open Sauce Bold Italics"/>
                <a:cs typeface="Open Sauce Bold Italics"/>
                <a:sym typeface="Open Sauce Bold Italics"/>
              </a:rPr>
              <a:t>7. Customer Behavior:</a:t>
            </a:r>
            <a:r>
              <a:rPr lang="en-US" sz="2070" i="true" b="true">
                <a:solidFill>
                  <a:srgbClr val="343432"/>
                </a:solidFill>
                <a:latin typeface="Open Sauce Bold Italics"/>
                <a:ea typeface="Open Sauce Bold Italics"/>
                <a:cs typeface="Open Sauce Bold Italics"/>
                <a:sym typeface="Open Sauce Bold Italics"/>
              </a:rPr>
              <a:t> </a:t>
            </a:r>
            <a:r>
              <a:rPr lang="en-US" sz="2070">
                <a:solidFill>
                  <a:srgbClr val="343432"/>
                </a:solidFill>
                <a:latin typeface="Open Sauce"/>
                <a:ea typeface="Open Sauce"/>
                <a:cs typeface="Open Sauce"/>
                <a:sym typeface="Open Sauce"/>
              </a:rPr>
              <a:t>All customers have made repeat purchases.</a:t>
            </a:r>
          </a:p>
          <a:p>
            <a:pPr algn="l">
              <a:lnSpc>
                <a:spcPts val="3105"/>
              </a:lnSpc>
            </a:pPr>
          </a:p>
          <a:p>
            <a:pPr algn="l">
              <a:lnSpc>
                <a:spcPts val="3105"/>
              </a:lnSpc>
            </a:pPr>
            <a:r>
              <a:rPr lang="en-US" sz="2070" i="true" b="true">
                <a:solidFill>
                  <a:srgbClr val="007DC6"/>
                </a:solidFill>
                <a:latin typeface="Open Sauce Bold Italics"/>
                <a:ea typeface="Open Sauce Bold Italics"/>
                <a:cs typeface="Open Sauce Bold Italics"/>
                <a:sym typeface="Open Sauce Bold Italics"/>
              </a:rPr>
              <a:t>8. Top Performers:</a:t>
            </a:r>
            <a:r>
              <a:rPr lang="en-US" sz="2070" i="true" b="true">
                <a:solidFill>
                  <a:srgbClr val="343432"/>
                </a:solidFill>
                <a:latin typeface="Open Sauce Bold Italics"/>
                <a:ea typeface="Open Sauce Bold Italics"/>
                <a:cs typeface="Open Sauce Bold Italics"/>
                <a:sym typeface="Open Sauce Bold Italics"/>
              </a:rPr>
              <a:t> </a:t>
            </a:r>
            <a:r>
              <a:rPr lang="en-US" sz="2070">
                <a:solidFill>
                  <a:srgbClr val="343432"/>
                </a:solidFill>
                <a:latin typeface="Open Sauce"/>
                <a:ea typeface="Open Sauce"/>
                <a:cs typeface="Open Sauce"/>
                <a:sym typeface="Open Sauce"/>
              </a:rPr>
              <a:t>The Top 5 performers generated a total sales of 113,078.70$, contributing 36.26%.</a:t>
            </a:r>
          </a:p>
          <a:p>
            <a:pPr algn="l">
              <a:lnSpc>
                <a:spcPts val="3105"/>
              </a:lnSpc>
            </a:pPr>
          </a:p>
          <a:p>
            <a:pPr algn="l">
              <a:lnSpc>
                <a:spcPts val="3105"/>
              </a:lnSpc>
            </a:pPr>
            <a:r>
              <a:rPr lang="en-US" b="true" sz="2070" i="true">
                <a:solidFill>
                  <a:srgbClr val="007DC6"/>
                </a:solidFill>
                <a:latin typeface="Open Sauce Bold Italics"/>
                <a:ea typeface="Open Sauce Bold Italics"/>
                <a:cs typeface="Open Sauce Bold Italics"/>
                <a:sym typeface="Open Sauce Bold Italics"/>
              </a:rPr>
              <a:t>9. Sales by Day: </a:t>
            </a:r>
            <a:r>
              <a:rPr lang="en-US" b="true" sz="2070">
                <a:solidFill>
                  <a:srgbClr val="343432"/>
                </a:solidFill>
                <a:latin typeface="Open Sauce Bold"/>
                <a:ea typeface="Open Sauce Bold"/>
                <a:cs typeface="Open Sauce Bold"/>
                <a:sym typeface="Open Sauce Bold"/>
              </a:rPr>
              <a:t>Tuesday</a:t>
            </a:r>
            <a:r>
              <a:rPr lang="en-US" sz="2070">
                <a:solidFill>
                  <a:srgbClr val="343432"/>
                </a:solidFill>
                <a:latin typeface="Open Sauce"/>
                <a:ea typeface="Open Sauce"/>
                <a:cs typeface="Open Sauce"/>
                <a:sym typeface="Open Sauce"/>
              </a:rPr>
              <a:t> saw highest sales while lowest sales were on </a:t>
            </a:r>
            <a:r>
              <a:rPr lang="en-US" b="true" sz="2070">
                <a:solidFill>
                  <a:srgbClr val="343432"/>
                </a:solidFill>
                <a:latin typeface="Open Sauce Bold"/>
                <a:ea typeface="Open Sauce Bold"/>
                <a:cs typeface="Open Sauce Bold"/>
                <a:sym typeface="Open Sauce Bold"/>
              </a:rPr>
              <a:t>Monday’s</a:t>
            </a:r>
            <a:r>
              <a:rPr lang="en-US" sz="2070">
                <a:solidFill>
                  <a:srgbClr val="343432"/>
                </a:solidFill>
                <a:latin typeface="Open Sauce"/>
                <a:ea typeface="Open Sauce"/>
                <a:cs typeface="Open Sauce"/>
                <a:sym typeface="Open Sauce"/>
              </a:rPr>
              <a:t> annually.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TextBox 3" id="3"/>
          <p:cNvSpPr txBox="true"/>
          <p:nvPr/>
        </p:nvSpPr>
        <p:spPr>
          <a:xfrm rot="0">
            <a:off x="1028700" y="952500"/>
            <a:ext cx="16230600" cy="630174"/>
          </a:xfrm>
          <a:prstGeom prst="rect">
            <a:avLst/>
          </a:prstGeom>
        </p:spPr>
        <p:txBody>
          <a:bodyPr anchor="t" rtlCol="false" tIns="0" lIns="0" bIns="0" rIns="0">
            <a:spAutoFit/>
          </a:bodyPr>
          <a:lstStyle/>
          <a:p>
            <a:pPr algn="ctr" marL="0" indent="0" lvl="0">
              <a:lnSpc>
                <a:spcPts val="5166"/>
              </a:lnSpc>
              <a:spcBef>
                <a:spcPct val="0"/>
              </a:spcBef>
            </a:pPr>
            <a:r>
              <a:rPr lang="en-US" b="true" sz="3690" spc="-73">
                <a:solidFill>
                  <a:srgbClr val="191919"/>
                </a:solidFill>
                <a:latin typeface="Open Sauce Bold"/>
                <a:ea typeface="Open Sauce Bold"/>
                <a:cs typeface="Open Sauce Bold"/>
                <a:sym typeface="Open Sauce Bold"/>
              </a:rPr>
              <a:t>Business Recommendations</a:t>
            </a:r>
          </a:p>
        </p:txBody>
      </p:sp>
      <p:sp>
        <p:nvSpPr>
          <p:cNvPr name="TextBox 4" id="4"/>
          <p:cNvSpPr txBox="true"/>
          <p:nvPr/>
        </p:nvSpPr>
        <p:spPr>
          <a:xfrm rot="0">
            <a:off x="1028700" y="2031748"/>
            <a:ext cx="16230600" cy="7346823"/>
          </a:xfrm>
          <a:prstGeom prst="rect">
            <a:avLst/>
          </a:prstGeom>
        </p:spPr>
        <p:txBody>
          <a:bodyPr anchor="t" rtlCol="false" tIns="0" lIns="0" bIns="0" rIns="0">
            <a:spAutoFit/>
          </a:bodyPr>
          <a:lstStyle/>
          <a:p>
            <a:pPr algn="l">
              <a:lnSpc>
                <a:spcPts val="3254"/>
              </a:lnSpc>
            </a:pPr>
            <a:r>
              <a:rPr lang="en-US" sz="2169" b="true">
                <a:solidFill>
                  <a:srgbClr val="007DC6"/>
                </a:solidFill>
                <a:latin typeface="Open Sauce Bold"/>
                <a:ea typeface="Open Sauce Bold"/>
                <a:cs typeface="Open Sauce Bold"/>
                <a:sym typeface="Open Sauce Bold"/>
              </a:rPr>
              <a:t> </a:t>
            </a:r>
            <a:r>
              <a:rPr lang="en-US" b="true" sz="2169" i="true">
                <a:solidFill>
                  <a:srgbClr val="F47421"/>
                </a:solidFill>
                <a:latin typeface="Open Sauce Bold Italics"/>
                <a:ea typeface="Open Sauce Bold Italics"/>
                <a:cs typeface="Open Sauce Bold Italics"/>
                <a:sym typeface="Open Sauce Bold Italics"/>
              </a:rPr>
              <a:t>1. Branch Performance:</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Branch A:</a:t>
            </a:r>
            <a:r>
              <a:rPr lang="en-US" sz="2169">
                <a:solidFill>
                  <a:srgbClr val="343432"/>
                </a:solidFill>
                <a:latin typeface="Open Sauce"/>
                <a:ea typeface="Open Sauce"/>
                <a:cs typeface="Open Sauce"/>
                <a:sym typeface="Open Sauce"/>
              </a:rPr>
              <a:t> Investigate the decline in sales and implement strategies to improve, like promotions or customer service improvements.</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Branch B: </a:t>
            </a:r>
            <a:r>
              <a:rPr lang="en-US" sz="2169">
                <a:solidFill>
                  <a:srgbClr val="343432"/>
                </a:solidFill>
                <a:latin typeface="Open Sauce"/>
                <a:ea typeface="Open Sauce"/>
                <a:cs typeface="Open Sauce"/>
                <a:sym typeface="Open Sauce"/>
              </a:rPr>
              <a:t>Address low sales in certain transactions while maintaining growth rate.</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Branch C: </a:t>
            </a:r>
            <a:r>
              <a:rPr lang="en-US" sz="2169">
                <a:solidFill>
                  <a:srgbClr val="343432"/>
                </a:solidFill>
                <a:latin typeface="Open Sauce"/>
                <a:ea typeface="Open Sauce"/>
                <a:cs typeface="Open Sauce"/>
                <a:sym typeface="Open Sauce"/>
              </a:rPr>
              <a:t>Maintain the performance while verifying unusually high sales for consistency.</a:t>
            </a:r>
          </a:p>
          <a:p>
            <a:pPr algn="l">
              <a:lnSpc>
                <a:spcPts val="3254"/>
              </a:lnSpc>
            </a:pPr>
          </a:p>
          <a:p>
            <a:pPr algn="l">
              <a:lnSpc>
                <a:spcPts val="3254"/>
              </a:lnSpc>
            </a:pPr>
            <a:r>
              <a:rPr lang="en-US" b="true" sz="2169" i="true">
                <a:solidFill>
                  <a:srgbClr val="F47421"/>
                </a:solidFill>
                <a:latin typeface="Open Sauce Bold Italics"/>
                <a:ea typeface="Open Sauce Bold Italics"/>
                <a:cs typeface="Open Sauce Bold Italics"/>
                <a:sym typeface="Open Sauce Bold Italics"/>
              </a:rPr>
              <a:t>2. Spending Patterns:</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Fashion Accessories: </a:t>
            </a:r>
            <a:r>
              <a:rPr lang="en-US" sz="2169">
                <a:solidFill>
                  <a:srgbClr val="343432"/>
                </a:solidFill>
                <a:latin typeface="Open Sauce"/>
                <a:ea typeface="Open Sauce"/>
                <a:cs typeface="Open Sauce"/>
                <a:sym typeface="Open Sauce"/>
              </a:rPr>
              <a:t>Focus more on promotion in branches A and C.</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Home and Lifestyle:</a:t>
            </a:r>
            <a:r>
              <a:rPr lang="en-US" sz="2169">
                <a:solidFill>
                  <a:srgbClr val="343432"/>
                </a:solidFill>
                <a:latin typeface="Open Sauce"/>
                <a:ea typeface="Open Sauce"/>
                <a:cs typeface="Open Sauce"/>
                <a:sym typeface="Open Sauce"/>
              </a:rPr>
              <a:t> Continue focusing on this product line in Branch B.</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Mandalay:</a:t>
            </a:r>
            <a:r>
              <a:rPr lang="en-US" sz="2169">
                <a:solidFill>
                  <a:srgbClr val="343432"/>
                </a:solidFill>
                <a:latin typeface="Open Sauce"/>
                <a:ea typeface="Open Sauce"/>
                <a:cs typeface="Open Sauce"/>
                <a:sym typeface="Open Sauce"/>
              </a:rPr>
              <a:t> Highest sales from low spenders.</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Naypyitaw: </a:t>
            </a:r>
            <a:r>
              <a:rPr lang="en-US" sz="2169">
                <a:solidFill>
                  <a:srgbClr val="343432"/>
                </a:solidFill>
                <a:latin typeface="Open Sauce"/>
                <a:ea typeface="Open Sauce"/>
                <a:cs typeface="Open Sauce"/>
                <a:sym typeface="Open Sauce"/>
              </a:rPr>
              <a:t>Strong sales from high spenders.</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Yangon:</a:t>
            </a:r>
            <a:r>
              <a:rPr lang="en-US" sz="2169">
                <a:solidFill>
                  <a:srgbClr val="343432"/>
                </a:solidFill>
                <a:latin typeface="Open Sauce"/>
                <a:ea typeface="Open Sauce"/>
                <a:cs typeface="Open Sauce"/>
                <a:sym typeface="Open Sauce"/>
              </a:rPr>
              <a:t> Balanced but low-spenders dominate.</a:t>
            </a:r>
          </a:p>
          <a:p>
            <a:pPr algn="l">
              <a:lnSpc>
                <a:spcPts val="3254"/>
              </a:lnSpc>
            </a:pPr>
          </a:p>
          <a:p>
            <a:pPr algn="l">
              <a:lnSpc>
                <a:spcPts val="3254"/>
              </a:lnSpc>
            </a:pPr>
            <a:r>
              <a:rPr lang="en-US" b="true" sz="2169" i="true">
                <a:solidFill>
                  <a:srgbClr val="F47421"/>
                </a:solidFill>
                <a:latin typeface="Open Sauce Bold Italics"/>
                <a:ea typeface="Open Sauce Bold Italics"/>
                <a:cs typeface="Open Sauce Bold Italics"/>
                <a:sym typeface="Open Sauce Bold Italics"/>
              </a:rPr>
              <a:t>3. Gender-Based Spending Trends:</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Female Customers: </a:t>
            </a:r>
            <a:r>
              <a:rPr lang="en-US" sz="2169">
                <a:solidFill>
                  <a:srgbClr val="343432"/>
                </a:solidFill>
                <a:latin typeface="Open Sauce"/>
                <a:ea typeface="Open Sauce"/>
                <a:cs typeface="Open Sauce"/>
                <a:sym typeface="Open Sauce"/>
              </a:rPr>
              <a:t>Maintain sales in January and February by providing targeted promotions and special discount offers like wintersale20%.</a:t>
            </a:r>
          </a:p>
          <a:p>
            <a:pPr algn="l"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Male Customers:</a:t>
            </a:r>
            <a:r>
              <a:rPr lang="en-US" sz="2169">
                <a:solidFill>
                  <a:srgbClr val="343432"/>
                </a:solidFill>
                <a:latin typeface="Open Sauce"/>
                <a:ea typeface="Open Sauce"/>
                <a:cs typeface="Open Sauce"/>
                <a:sym typeface="Open Sauce"/>
              </a:rPr>
              <a:t> Boost sales by providing special offers in March and December.</a:t>
            </a:r>
          </a:p>
          <a:p>
            <a:pPr algn="l">
              <a:lnSpc>
                <a:spcPts val="3254"/>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10617" y="495834"/>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2"/>
            <a:stretch>
              <a:fillRect l="0" t="-26160" r="0" b="-26160"/>
            </a:stretch>
          </a:blipFill>
        </p:spPr>
      </p:sp>
      <p:sp>
        <p:nvSpPr>
          <p:cNvPr name="TextBox 3" id="3"/>
          <p:cNvSpPr txBox="true"/>
          <p:nvPr/>
        </p:nvSpPr>
        <p:spPr>
          <a:xfrm rot="0">
            <a:off x="1028700" y="952500"/>
            <a:ext cx="16230600" cy="630174"/>
          </a:xfrm>
          <a:prstGeom prst="rect">
            <a:avLst/>
          </a:prstGeom>
        </p:spPr>
        <p:txBody>
          <a:bodyPr anchor="t" rtlCol="false" tIns="0" lIns="0" bIns="0" rIns="0">
            <a:spAutoFit/>
          </a:bodyPr>
          <a:lstStyle/>
          <a:p>
            <a:pPr algn="ctr" marL="0" indent="0" lvl="0">
              <a:lnSpc>
                <a:spcPts val="5166"/>
              </a:lnSpc>
              <a:spcBef>
                <a:spcPct val="0"/>
              </a:spcBef>
            </a:pPr>
            <a:r>
              <a:rPr lang="en-US" b="true" sz="3690" spc="-73">
                <a:solidFill>
                  <a:srgbClr val="191919"/>
                </a:solidFill>
                <a:latin typeface="Open Sauce Bold"/>
                <a:ea typeface="Open Sauce Bold"/>
                <a:cs typeface="Open Sauce Bold"/>
                <a:sym typeface="Open Sauce Bold"/>
              </a:rPr>
              <a:t>Business Recommendations</a:t>
            </a:r>
          </a:p>
        </p:txBody>
      </p:sp>
      <p:sp>
        <p:nvSpPr>
          <p:cNvPr name="TextBox 4" id="4"/>
          <p:cNvSpPr txBox="true"/>
          <p:nvPr/>
        </p:nvSpPr>
        <p:spPr>
          <a:xfrm rot="0">
            <a:off x="1028700" y="1911477"/>
            <a:ext cx="16230600" cy="7346823"/>
          </a:xfrm>
          <a:prstGeom prst="rect">
            <a:avLst/>
          </a:prstGeom>
        </p:spPr>
        <p:txBody>
          <a:bodyPr anchor="t" rtlCol="false" tIns="0" lIns="0" bIns="0" rIns="0">
            <a:spAutoFit/>
          </a:bodyPr>
          <a:lstStyle/>
          <a:p>
            <a:pPr algn="just">
              <a:lnSpc>
                <a:spcPts val="3254"/>
              </a:lnSpc>
            </a:pPr>
            <a:r>
              <a:rPr lang="en-US" sz="2169" b="true">
                <a:solidFill>
                  <a:srgbClr val="007DC6"/>
                </a:solidFill>
                <a:latin typeface="Open Sauce Bold"/>
                <a:ea typeface="Open Sauce Bold"/>
                <a:cs typeface="Open Sauce Bold"/>
                <a:sym typeface="Open Sauce Bold"/>
              </a:rPr>
              <a:t> </a:t>
            </a:r>
            <a:r>
              <a:rPr lang="en-US" sz="2169" b="true">
                <a:solidFill>
                  <a:srgbClr val="F47421"/>
                </a:solidFill>
                <a:latin typeface="Open Sauce Bold"/>
                <a:ea typeface="Open Sauce Bold"/>
                <a:cs typeface="Open Sauce Bold"/>
                <a:sym typeface="Open Sauce Bold"/>
              </a:rPr>
              <a:t>4. Payment Modes:</a:t>
            </a:r>
          </a:p>
          <a:p>
            <a:pPr algn="just"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Yangon and Mandalay: </a:t>
            </a:r>
            <a:r>
              <a:rPr lang="en-US" sz="2169">
                <a:solidFill>
                  <a:srgbClr val="343432"/>
                </a:solidFill>
                <a:latin typeface="Open Sauce"/>
                <a:ea typeface="Open Sauce"/>
                <a:cs typeface="Open Sauce"/>
                <a:sym typeface="Open Sauce"/>
              </a:rPr>
              <a:t>Promote E-wallets further by giving reward points.</a:t>
            </a:r>
          </a:p>
          <a:p>
            <a:pPr algn="just"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Naypyitaw: </a:t>
            </a:r>
            <a:r>
              <a:rPr lang="en-US" sz="2169">
                <a:solidFill>
                  <a:srgbClr val="343432"/>
                </a:solidFill>
                <a:latin typeface="Open Sauce"/>
                <a:ea typeface="Open Sauce"/>
                <a:cs typeface="Open Sauce"/>
                <a:sym typeface="Open Sauce"/>
              </a:rPr>
              <a:t>Ensure smooth cash transactions and offer discounts to encourage E-wallet use.</a:t>
            </a:r>
          </a:p>
          <a:p>
            <a:pPr algn="just">
              <a:lnSpc>
                <a:spcPts val="3254"/>
              </a:lnSpc>
            </a:pPr>
          </a:p>
          <a:p>
            <a:pPr algn="just">
              <a:lnSpc>
                <a:spcPts val="3254"/>
              </a:lnSpc>
            </a:pPr>
          </a:p>
          <a:p>
            <a:pPr algn="just">
              <a:lnSpc>
                <a:spcPts val="3254"/>
              </a:lnSpc>
            </a:pPr>
            <a:r>
              <a:rPr lang="en-US" b="true" sz="2169">
                <a:solidFill>
                  <a:srgbClr val="F47421"/>
                </a:solidFill>
                <a:latin typeface="Open Sauce Bold"/>
                <a:ea typeface="Open Sauce Bold"/>
                <a:cs typeface="Open Sauce Bold"/>
                <a:sym typeface="Open Sauce Bold"/>
              </a:rPr>
              <a:t>5</a:t>
            </a:r>
            <a:r>
              <a:rPr lang="en-US" b="true" sz="2169" i="true">
                <a:solidFill>
                  <a:srgbClr val="F47421"/>
                </a:solidFill>
                <a:latin typeface="Open Sauce Bold Italics"/>
                <a:ea typeface="Open Sauce Bold Italics"/>
                <a:cs typeface="Open Sauce Bold Italics"/>
                <a:sym typeface="Open Sauce Bold Italics"/>
              </a:rPr>
              <a:t>. Product Preferences:</a:t>
            </a:r>
          </a:p>
          <a:p>
            <a:pPr algn="just"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Members: </a:t>
            </a:r>
            <a:r>
              <a:rPr lang="en-US" sz="2169">
                <a:solidFill>
                  <a:srgbClr val="343432"/>
                </a:solidFill>
                <a:latin typeface="Open Sauce"/>
                <a:ea typeface="Open Sauce"/>
                <a:cs typeface="Open Sauce"/>
                <a:sym typeface="Open Sauce"/>
              </a:rPr>
              <a:t>Focus on food and beverages, offering loyalty programs or discounts.</a:t>
            </a:r>
          </a:p>
          <a:p>
            <a:pPr algn="just"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Normal Customers: </a:t>
            </a:r>
            <a:r>
              <a:rPr lang="en-US" sz="2169">
                <a:solidFill>
                  <a:srgbClr val="343432"/>
                </a:solidFill>
                <a:latin typeface="Open Sauce"/>
                <a:ea typeface="Open Sauce"/>
                <a:cs typeface="Open Sauce"/>
                <a:sym typeface="Open Sauce"/>
              </a:rPr>
              <a:t>Continue promoting electronic accessories.</a:t>
            </a:r>
          </a:p>
          <a:p>
            <a:pPr algn="just">
              <a:lnSpc>
                <a:spcPts val="3254"/>
              </a:lnSpc>
            </a:pPr>
          </a:p>
          <a:p>
            <a:pPr algn="just">
              <a:lnSpc>
                <a:spcPts val="3254"/>
              </a:lnSpc>
            </a:pPr>
            <a:r>
              <a:rPr lang="en-US" b="true" sz="2169">
                <a:solidFill>
                  <a:srgbClr val="F47421"/>
                </a:solidFill>
                <a:latin typeface="Open Sauce Bold"/>
                <a:ea typeface="Open Sauce Bold"/>
                <a:cs typeface="Open Sauce Bold"/>
                <a:sym typeface="Open Sauce Bold"/>
              </a:rPr>
              <a:t>6</a:t>
            </a:r>
            <a:r>
              <a:rPr lang="en-US" b="true" sz="2169" i="true">
                <a:solidFill>
                  <a:srgbClr val="F47421"/>
                </a:solidFill>
                <a:latin typeface="Open Sauce Bold Italics"/>
                <a:ea typeface="Open Sauce Bold Italics"/>
                <a:cs typeface="Open Sauce Bold Italics"/>
                <a:sym typeface="Open Sauce Bold Italics"/>
              </a:rPr>
              <a:t>. Sales by Day:</a:t>
            </a:r>
          </a:p>
          <a:p>
            <a:pPr algn="just"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Tuesday: </a:t>
            </a:r>
            <a:r>
              <a:rPr lang="en-US" sz="2169">
                <a:solidFill>
                  <a:srgbClr val="343432"/>
                </a:solidFill>
                <a:latin typeface="Open Sauce"/>
                <a:ea typeface="Open Sauce"/>
                <a:cs typeface="Open Sauce"/>
                <a:sym typeface="Open Sauce"/>
              </a:rPr>
              <a:t>Replicate successful strategies to boost Monday sales.</a:t>
            </a:r>
          </a:p>
          <a:p>
            <a:pPr algn="just" marL="468502" indent="-234251" lvl="1">
              <a:lnSpc>
                <a:spcPts val="3254"/>
              </a:lnSpc>
              <a:buFont typeface="Arial"/>
              <a:buChar char="•"/>
            </a:pPr>
            <a:r>
              <a:rPr lang="en-US" b="true" sz="2169">
                <a:solidFill>
                  <a:srgbClr val="343432"/>
                </a:solidFill>
                <a:latin typeface="Open Sauce Bold"/>
                <a:ea typeface="Open Sauce Bold"/>
                <a:cs typeface="Open Sauce Bold"/>
                <a:sym typeface="Open Sauce Bold"/>
              </a:rPr>
              <a:t>Monday: </a:t>
            </a:r>
            <a:r>
              <a:rPr lang="en-US" sz="2169">
                <a:solidFill>
                  <a:srgbClr val="343432"/>
                </a:solidFill>
                <a:latin typeface="Open Sauce"/>
                <a:ea typeface="Open Sauce"/>
                <a:cs typeface="Open Sauce"/>
                <a:sym typeface="Open Sauce"/>
              </a:rPr>
              <a:t>Investigate reasons for low sales and consider promotions to encourage shopping by giving discounts.</a:t>
            </a:r>
          </a:p>
          <a:p>
            <a:pPr algn="just">
              <a:lnSpc>
                <a:spcPts val="3254"/>
              </a:lnSpc>
            </a:pPr>
          </a:p>
          <a:p>
            <a:pPr algn="just">
              <a:lnSpc>
                <a:spcPts val="3254"/>
              </a:lnSpc>
            </a:pPr>
            <a:r>
              <a:rPr lang="en-US" b="true" sz="2169" i="true">
                <a:solidFill>
                  <a:srgbClr val="F47421"/>
                </a:solidFill>
                <a:latin typeface="Open Sauce Bold Italics"/>
                <a:ea typeface="Open Sauce Bold Italics"/>
                <a:cs typeface="Open Sauce Bold Italics"/>
                <a:sym typeface="Open Sauce Bold Italics"/>
              </a:rPr>
              <a:t>7. Customer Retention: </a:t>
            </a:r>
            <a:r>
              <a:rPr lang="en-US" sz="2169">
                <a:solidFill>
                  <a:srgbClr val="343432"/>
                </a:solidFill>
                <a:latin typeface="Open Sauce"/>
                <a:ea typeface="Open Sauce"/>
                <a:cs typeface="Open Sauce"/>
                <a:sym typeface="Open Sauce"/>
              </a:rPr>
              <a:t>Continue investing in loyalty programs to encourage repeat business and strong customer retention.</a:t>
            </a:r>
          </a:p>
          <a:p>
            <a:pPr algn="just">
              <a:lnSpc>
                <a:spcPts val="3254"/>
              </a:lnSpc>
            </a:pPr>
          </a:p>
          <a:p>
            <a:pPr algn="just">
              <a:lnSpc>
                <a:spcPts val="3254"/>
              </a:lnSpc>
            </a:pPr>
            <a:r>
              <a:rPr lang="en-US" b="true" sz="2169" i="true">
                <a:solidFill>
                  <a:srgbClr val="F47421"/>
                </a:solidFill>
                <a:latin typeface="Open Sauce Bold Italics"/>
                <a:ea typeface="Open Sauce Bold Italics"/>
                <a:cs typeface="Open Sauce Bold Italics"/>
                <a:sym typeface="Open Sauce Bold Italics"/>
              </a:rPr>
              <a:t>8. Trend Analysis:</a:t>
            </a:r>
            <a:r>
              <a:rPr lang="en-US" b="true" sz="2169" i="true">
                <a:solidFill>
                  <a:srgbClr val="007DC6"/>
                </a:solidFill>
                <a:latin typeface="Open Sauce Bold Italics"/>
                <a:ea typeface="Open Sauce Bold Italics"/>
                <a:cs typeface="Open Sauce Bold Italics"/>
                <a:sym typeface="Open Sauce Bold Italics"/>
              </a:rPr>
              <a:t> </a:t>
            </a:r>
            <a:r>
              <a:rPr lang="en-US" sz="2169">
                <a:solidFill>
                  <a:srgbClr val="343432"/>
                </a:solidFill>
                <a:latin typeface="Open Sauce"/>
                <a:ea typeface="Open Sauce"/>
                <a:cs typeface="Open Sauce"/>
                <a:sym typeface="Open Sauce"/>
              </a:rPr>
              <a:t>Tailor marketing campaigns to align with gender-based spending trends, particularly in January, March, and December.</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99871" y="2680192"/>
            <a:ext cx="8892659" cy="4924128"/>
            <a:chOff x="0" y="0"/>
            <a:chExt cx="2785608" cy="1542473"/>
          </a:xfrm>
        </p:grpSpPr>
        <p:sp>
          <p:nvSpPr>
            <p:cNvPr name="Freeform 3" id="3"/>
            <p:cNvSpPr/>
            <p:nvPr/>
          </p:nvSpPr>
          <p:spPr>
            <a:xfrm flipH="false" flipV="false" rot="0">
              <a:off x="0" y="0"/>
              <a:ext cx="2785608" cy="1542473"/>
            </a:xfrm>
            <a:custGeom>
              <a:avLst/>
              <a:gdLst/>
              <a:ahLst/>
              <a:cxnLst/>
              <a:rect r="r" b="b" t="t" l="l"/>
              <a:pathLst>
                <a:path h="1542473" w="2785608">
                  <a:moveTo>
                    <a:pt x="39177" y="0"/>
                  </a:moveTo>
                  <a:lnTo>
                    <a:pt x="2746431" y="0"/>
                  </a:lnTo>
                  <a:cubicBezTo>
                    <a:pt x="2768068" y="0"/>
                    <a:pt x="2785608" y="17540"/>
                    <a:pt x="2785608" y="39177"/>
                  </a:cubicBezTo>
                  <a:lnTo>
                    <a:pt x="2785608" y="1503296"/>
                  </a:lnTo>
                  <a:cubicBezTo>
                    <a:pt x="2785608" y="1524933"/>
                    <a:pt x="2768068" y="1542473"/>
                    <a:pt x="2746431" y="1542473"/>
                  </a:cubicBezTo>
                  <a:lnTo>
                    <a:pt x="39177" y="1542473"/>
                  </a:lnTo>
                  <a:cubicBezTo>
                    <a:pt x="17540" y="1542473"/>
                    <a:pt x="0" y="1524933"/>
                    <a:pt x="0" y="1503296"/>
                  </a:cubicBezTo>
                  <a:lnTo>
                    <a:pt x="0" y="39177"/>
                  </a:lnTo>
                  <a:cubicBezTo>
                    <a:pt x="0" y="17540"/>
                    <a:pt x="17540" y="0"/>
                    <a:pt x="39177" y="0"/>
                  </a:cubicBezTo>
                  <a:close/>
                </a:path>
              </a:pathLst>
            </a:custGeom>
            <a:solidFill>
              <a:srgbClr val="007DC6"/>
            </a:solidFill>
            <a:ln cap="rnd">
              <a:noFill/>
              <a:prstDash val="solid"/>
              <a:round/>
            </a:ln>
          </p:spPr>
        </p:sp>
        <p:sp>
          <p:nvSpPr>
            <p:cNvPr name="TextBox 4" id="4"/>
            <p:cNvSpPr txBox="true"/>
            <p:nvPr/>
          </p:nvSpPr>
          <p:spPr>
            <a:xfrm>
              <a:off x="0" y="-38100"/>
              <a:ext cx="2785608" cy="1580573"/>
            </a:xfrm>
            <a:prstGeom prst="rect">
              <a:avLst/>
            </a:prstGeom>
          </p:spPr>
          <p:txBody>
            <a:bodyPr anchor="ctr" rtlCol="false" tIns="50800" lIns="50800" bIns="50800" rIns="50800"/>
            <a:lstStyle/>
            <a:p>
              <a:pPr algn="ctr" marL="0" indent="0" lvl="0">
                <a:lnSpc>
                  <a:spcPts val="3035"/>
                </a:lnSpc>
                <a:spcBef>
                  <a:spcPct val="0"/>
                </a:spcBef>
              </a:pPr>
            </a:p>
          </p:txBody>
        </p:sp>
      </p:grpSp>
      <p:sp>
        <p:nvSpPr>
          <p:cNvPr name="Freeform 5" id="5"/>
          <p:cNvSpPr/>
          <p:nvPr/>
        </p:nvSpPr>
        <p:spPr>
          <a:xfrm flipH="false" flipV="false" rot="0">
            <a:off x="868394" y="2100713"/>
            <a:ext cx="6083085" cy="6083085"/>
          </a:xfrm>
          <a:custGeom>
            <a:avLst/>
            <a:gdLst/>
            <a:ahLst/>
            <a:cxnLst/>
            <a:rect r="r" b="b" t="t" l="l"/>
            <a:pathLst>
              <a:path h="6083085" w="6083085">
                <a:moveTo>
                  <a:pt x="0" y="0"/>
                </a:moveTo>
                <a:lnTo>
                  <a:pt x="6083085" y="0"/>
                </a:lnTo>
                <a:lnTo>
                  <a:pt x="6083085" y="6083086"/>
                </a:lnTo>
                <a:lnTo>
                  <a:pt x="0" y="6083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1434840" y="2667169"/>
            <a:ext cx="4950194" cy="4950174"/>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77935" t="0" r="0" b="0"/>
              </a:stretch>
            </a:blipFill>
          </p:spPr>
        </p:sp>
      </p:grpSp>
      <p:grpSp>
        <p:nvGrpSpPr>
          <p:cNvPr name="Group 8" id="8"/>
          <p:cNvGrpSpPr/>
          <p:nvPr/>
        </p:nvGrpSpPr>
        <p:grpSpPr>
          <a:xfrm rot="0">
            <a:off x="15811589" y="8007246"/>
            <a:ext cx="4201427" cy="42014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F47421"/>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1" id="11"/>
          <p:cNvGrpSpPr/>
          <p:nvPr/>
        </p:nvGrpSpPr>
        <p:grpSpPr>
          <a:xfrm rot="0">
            <a:off x="-1868494" y="-2100713"/>
            <a:ext cx="4201427" cy="420142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F47421"/>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4" id="14"/>
          <p:cNvGrpSpPr/>
          <p:nvPr/>
        </p:nvGrpSpPr>
        <p:grpSpPr>
          <a:xfrm rot="0">
            <a:off x="16067950" y="6633635"/>
            <a:ext cx="762083" cy="76208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7" id="17"/>
          <p:cNvGrpSpPr/>
          <p:nvPr/>
        </p:nvGrpSpPr>
        <p:grpSpPr>
          <a:xfrm rot="0">
            <a:off x="-575233" y="9258300"/>
            <a:ext cx="1614906" cy="161490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C6"/>
            </a:solidFill>
            <a:ln cap="sq">
              <a:no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20" id="20"/>
          <p:cNvSpPr/>
          <p:nvPr/>
        </p:nvSpPr>
        <p:spPr>
          <a:xfrm flipH="false" flipV="false" rot="0">
            <a:off x="14210617" y="1028700"/>
            <a:ext cx="3048683" cy="532866"/>
          </a:xfrm>
          <a:custGeom>
            <a:avLst/>
            <a:gdLst/>
            <a:ahLst/>
            <a:cxnLst/>
            <a:rect r="r" b="b" t="t" l="l"/>
            <a:pathLst>
              <a:path h="532866" w="3048683">
                <a:moveTo>
                  <a:pt x="0" y="0"/>
                </a:moveTo>
                <a:lnTo>
                  <a:pt x="3048683" y="0"/>
                </a:lnTo>
                <a:lnTo>
                  <a:pt x="3048683" y="532866"/>
                </a:lnTo>
                <a:lnTo>
                  <a:pt x="0" y="532866"/>
                </a:lnTo>
                <a:lnTo>
                  <a:pt x="0" y="0"/>
                </a:lnTo>
                <a:close/>
              </a:path>
            </a:pathLst>
          </a:custGeom>
          <a:blipFill>
            <a:blip r:embed="rId5"/>
            <a:stretch>
              <a:fillRect l="0" t="-26160" r="0" b="-26160"/>
            </a:stretch>
          </a:blipFill>
        </p:spPr>
      </p:sp>
      <p:sp>
        <p:nvSpPr>
          <p:cNvPr name="TextBox 21" id="21"/>
          <p:cNvSpPr txBox="true"/>
          <p:nvPr/>
        </p:nvSpPr>
        <p:spPr>
          <a:xfrm rot="0">
            <a:off x="6889891" y="3949441"/>
            <a:ext cx="4690387" cy="861495"/>
          </a:xfrm>
          <a:prstGeom prst="rect">
            <a:avLst/>
          </a:prstGeom>
        </p:spPr>
        <p:txBody>
          <a:bodyPr anchor="t" rtlCol="false" tIns="0" lIns="0" bIns="0" rIns="0">
            <a:spAutoFit/>
          </a:bodyPr>
          <a:lstStyle/>
          <a:p>
            <a:pPr algn="l" marL="0" indent="0" lvl="0">
              <a:lnSpc>
                <a:spcPts val="7116"/>
              </a:lnSpc>
              <a:spcBef>
                <a:spcPct val="0"/>
              </a:spcBef>
            </a:pPr>
            <a:r>
              <a:rPr lang="en-US" b="true" sz="5082" spc="477">
                <a:solidFill>
                  <a:srgbClr val="FFFFFF"/>
                </a:solidFill>
                <a:latin typeface="Open Sauce Bold"/>
                <a:ea typeface="Open Sauce Bold"/>
                <a:cs typeface="Open Sauce Bold"/>
                <a:sym typeface="Open Sauce Bold"/>
              </a:rPr>
              <a:t>THANK YOU</a:t>
            </a:r>
          </a:p>
        </p:txBody>
      </p:sp>
      <p:sp>
        <p:nvSpPr>
          <p:cNvPr name="TextBox 22" id="22"/>
          <p:cNvSpPr txBox="true"/>
          <p:nvPr/>
        </p:nvSpPr>
        <p:spPr>
          <a:xfrm rot="0">
            <a:off x="6798807" y="4772836"/>
            <a:ext cx="4872554" cy="434268"/>
          </a:xfrm>
          <a:prstGeom prst="rect">
            <a:avLst/>
          </a:prstGeom>
        </p:spPr>
        <p:txBody>
          <a:bodyPr anchor="t" rtlCol="false" tIns="0" lIns="0" bIns="0" rIns="0">
            <a:spAutoFit/>
          </a:bodyPr>
          <a:lstStyle/>
          <a:p>
            <a:pPr algn="l" marL="0" indent="0" lvl="0">
              <a:lnSpc>
                <a:spcPts val="3655"/>
              </a:lnSpc>
              <a:spcBef>
                <a:spcPct val="0"/>
              </a:spcBef>
            </a:pPr>
            <a:r>
              <a:rPr lang="en-US" sz="2611" spc="-52">
                <a:solidFill>
                  <a:srgbClr val="FFFFFF"/>
                </a:solidFill>
                <a:latin typeface="Open Sauce"/>
                <a:ea typeface="Open Sauce"/>
                <a:cs typeface="Open Sauce"/>
                <a:sym typeface="Open Sauce"/>
              </a:rPr>
              <a:t>For watching this presentation</a:t>
            </a:r>
          </a:p>
        </p:txBody>
      </p:sp>
      <p:sp>
        <p:nvSpPr>
          <p:cNvPr name="TextBox 23" id="23"/>
          <p:cNvSpPr txBox="true"/>
          <p:nvPr/>
        </p:nvSpPr>
        <p:spPr>
          <a:xfrm rot="0">
            <a:off x="6798807" y="5430573"/>
            <a:ext cx="4872554" cy="428971"/>
          </a:xfrm>
          <a:prstGeom prst="rect">
            <a:avLst/>
          </a:prstGeom>
        </p:spPr>
        <p:txBody>
          <a:bodyPr anchor="t" rtlCol="false" tIns="0" lIns="0" bIns="0" rIns="0">
            <a:spAutoFit/>
          </a:bodyPr>
          <a:lstStyle/>
          <a:p>
            <a:pPr algn="l" marL="0" indent="0" lvl="0">
              <a:lnSpc>
                <a:spcPts val="3655"/>
              </a:lnSpc>
              <a:spcBef>
                <a:spcPct val="0"/>
              </a:spcBef>
            </a:pPr>
            <a:r>
              <a:rPr lang="en-US" sz="2611" i="true" spc="-52">
                <a:solidFill>
                  <a:srgbClr val="FFFFFF"/>
                </a:solidFill>
                <a:latin typeface="Open Sauce Italics"/>
                <a:ea typeface="Open Sauce Italics"/>
                <a:cs typeface="Open Sauce Italics"/>
                <a:sym typeface="Open Sauce Italics"/>
              </a:rPr>
              <a:t>Made by : Saumya Lahri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DAGZDWnQFTU</dc:identifier>
  <dcterms:modified xsi:type="dcterms:W3CDTF">2011-08-01T06:04:30Z</dcterms:modified>
  <cp:revision>1</cp:revision>
  <dc:title>Sales Performance Analysis of Walmart Stores</dc:title>
</cp:coreProperties>
</file>